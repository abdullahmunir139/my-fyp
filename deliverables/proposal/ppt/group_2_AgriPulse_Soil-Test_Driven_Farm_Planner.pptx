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AgriPulse. A web application that turns one soil test report into a complete sowing decision, on one laptop, with no internet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farmer in Faisalabad has six acres of loam soil. In October he must make one decision he cannot take back until harvest: what to sow. He needs four numbers — what it costs, how much water it needs, exactly how many fertiliser bags to buy, and what he earns back. He has none of them. He already has his soil test report from the district laboratory, and nothing in Pakistan turns that report into those four numbers. We built the thing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all measured in rupees the farmer 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all three addressed. The third one is why this runs offline. Read the bottom line aloud — that is the thesis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Sixty-four percent of all farms in Pakistan are under five acres. Punjab grows three quarters of the country's wheat. This farmer is the median Pakistani farmer.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Nitrogen use efficiency fell from 58% to 23% in fifty years. That is not a knowledge problem — it is an information-plumbing problem, and it has a dollar figure: US$2.07 billion to close the phosphorus gap, while US$4.4 billion of usable on-farm nutrients went unused in the same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Pakistani tools, thirteen in total; two matter. MandiOye is genuinely close — 25 free calculators — but its fertiliser calculator asks you for the nutrient requirement, the number you went to the lab to get. Ours needs only the soil reading, because Punjab already published the bands in SFRI Guide-V. Bakhabar Kissan: 12M farmers advised, ~216k app users — 1.8% (GSMA, Mar 2025). India's national platform converts at 0.07%. App-based advisory does not convert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offline is a photo classifier. Everything with numbers is online and asks you for the numbers you 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 at the bottom. It is the whole project: the farmer's numbers go in, published formulas run, results come out with a citation. The middle layer is four pure functions — same input, same output, no database, no clock — which makes them unit-testable. And notice what is not there: no machine-learning model anywhere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between the ring and the filled target area is the deficiency — the farmer sees it instead of reading it. And notice potassium: high, reduce dose. A system that can tell a farmer not to buy something is not selling him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formula I wrote. It is the Government of Punjab's SFRI Guide-V method, implemented exactly, validated against a figure from a different agency: the PCPA Cotton Book — 2.35 bags urea and 1.04 bags DAP per acre of cotton. That single test is week five. If asked: cotton is the validation reference, not a shipped crop. The shipped set is wheat, rice, maize, potato and tomato.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carries its citation — unusual in this field, and the reason a supervisor can believe the output. Per acre, and the farmer's acreage multiplies it. He sees his own budget, the headroom, and exactly how many bags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a slider. Nothing is sent anywhere — it recomputes in the browser in under fifty milliseconds. The point is the last row: profit goes up, and the return on every rupee he spends goes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is either a published figure or a calculation from a published method on a published figure. There is no third category. A crop appears in the dropdown only if its cost and yield have a named public source; otherwise it is shown as unavailable, not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agronomic formulas are published and fixed, so they are not the work. The computer science is turning four published methods into a correct, validated, fully local service: four pure functions, a token-authenticated API where no user can read another's data, validation at every boundary, and a test suite that proves the arithmetic against an official figure. All nineteen tools are free and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5 is the project.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prototype explores whether an idea is interesting. I had a specific technical question and built a test to answer it. If week five passes, the architecture, services, data model and tests all survive into production. Contribution: software that is correct, safe, local, transparent and honest about its limits. Read the out-of-scope list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production scale the value is real. But the blocker is not the software — it is data freshness. Urea moved from ~1,800 to ~4,500 rupees a bag in four years; a bundled price file is wrong within months. The real question is who refreshes the data, from which named publication, and how the farmer knows what day it was refreshed. Our answer: the citation must be on screen with a date — which is why it already is.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32D"/>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AgriPulse Analytics</a:t>
            </a:r>
            <a:endParaRPr lang="en-US" sz="4400" dirty="0"/>
          </a:p>
        </p:txBody>
      </p:sp>
      <p:sp>
        <p:nvSpPr>
          <p:cNvPr id="3" name="Text 1"/>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200" dirty="0">
                <a:solidFill>
                  <a:srgbClr val="F59E0B"/>
                </a:solidFill>
                <a:latin typeface="Calibri" pitchFamily="34" charset="0"/>
                <a:ea typeface="Calibri" pitchFamily="34" charset="-122"/>
                <a:cs typeface="Calibri" pitchFamily="34" charset="-120"/>
              </a:rPr>
              <a:t>A Soil-Test Driven Farm &amp; Financial Decision Engine</a:t>
            </a:r>
            <a:endParaRPr lang="en-US" sz="2200" dirty="0"/>
          </a:p>
        </p:txBody>
      </p:sp>
      <p:sp>
        <p:nvSpPr>
          <p:cNvPr id="4" name="Text 2"/>
          <p:cNvSpPr txBox="1"/>
          <p:nvPr/>
        </p:nvSpPr>
        <p:spPr>
          <a:xfrm>
            <a:off x="548640" y="2743200"/>
            <a:ext cx="8046720" cy="1463040"/>
          </a:xfrm>
          <a:prstGeom prst="rect">
            <a:avLst/>
          </a:prstGeom>
          <a:noFill/>
          <a:ln/>
        </p:spPr>
        <p:txBody>
          <a:bodyPr wrap="square" lIns="0" tIns="0" rIns="0" bIns="0" rtlCol="0" anchor="ctr"/>
          <a:lstStyle/>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Abdullah Munir · 2023-GCUF-074974</a:t>
            </a:r>
            <a:endParaRPr lang="en-US" sz="15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Muhammad Hamza</a:t>
            </a:r>
            <a:endParaRPr lang="en-US" sz="15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Government Graduate College, Satiana Road, Faisalabad</a:t>
            </a:r>
            <a:endParaRPr lang="en-US" sz="15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Department of Computer Science · GCUF</a:t>
            </a:r>
            <a:endParaRPr lang="en-US" sz="1500" dirty="0"/>
          </a:p>
          <a:p>
            <a:pPr indent="0" marL="0">
              <a:spcAft>
                <a:spcPts val="300"/>
              </a:spcAft>
              <a:buNone/>
            </a:pPr>
            <a:r>
              <a:rPr lang="en-US" sz="1500" dirty="0">
                <a:solidFill>
                  <a:srgbClr val="FFFFFF"/>
                </a:solidFill>
                <a:latin typeface="Calibri" pitchFamily="34" charset="0"/>
                <a:ea typeface="Calibri" pitchFamily="34" charset="-122"/>
                <a:cs typeface="Calibri" pitchFamily="34" charset="-120"/>
              </a:rPr>
              <a:t>Supervisor: ____________</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30-second story</a:t>
            </a:r>
            <a:endParaRPr lang="en-US" sz="2200" dirty="0"/>
          </a:p>
        </p:txBody>
      </p:sp>
      <p:sp>
        <p:nvSpPr>
          <p:cNvPr id="5" name="Text 2"/>
          <p:cNvSpPr txBox="1"/>
          <p:nvPr/>
        </p:nvSpPr>
        <p:spPr>
          <a:xfrm>
            <a:off x="731520" y="1188720"/>
            <a:ext cx="7680960" cy="1280160"/>
          </a:xfrm>
          <a:prstGeom prst="rect">
            <a:avLst/>
          </a:prstGeom>
          <a:noFill/>
          <a:ln/>
        </p:spPr>
        <p:txBody>
          <a:bodyPr wrap="square" lIns="0" tIns="0" rIns="0" bIns="0" rtlCol="0" anchor="ctr"/>
          <a:lstStyle/>
          <a:p>
            <a:pPr algn="ctr" indent="0" marL="0">
              <a:buNone/>
            </a:pPr>
            <a:r>
              <a:rPr lang="en-US" sz="3000" b="1" dirty="0">
                <a:solidFill>
                  <a:srgbClr val="14532D"/>
                </a:solidFill>
                <a:latin typeface="Calibri" pitchFamily="34" charset="0"/>
                <a:ea typeface="Calibri" pitchFamily="34" charset="-122"/>
                <a:cs typeface="Calibri" pitchFamily="34" charset="-120"/>
              </a:rPr>
              <a:t>One farmer. Six acres of loam. One decision he cannot undo.</a:t>
            </a:r>
            <a:endParaRPr lang="en-US" sz="3000" dirty="0"/>
          </a:p>
        </p:txBody>
      </p:sp>
      <p:sp>
        <p:nvSpPr>
          <p:cNvPr id="6" name="Text 3"/>
          <p:cNvSpPr txBox="1"/>
          <p:nvPr/>
        </p:nvSpPr>
        <p:spPr>
          <a:xfrm>
            <a:off x="731520" y="2743200"/>
            <a:ext cx="7680960" cy="731520"/>
          </a:xfrm>
          <a:prstGeom prst="rect">
            <a:avLst/>
          </a:prstGeom>
          <a:noFill/>
          <a:ln/>
        </p:spPr>
        <p:txBody>
          <a:bodyPr wrap="square" lIns="0" tIns="0" rIns="0" bIns="0" rtlCol="0" anchor="ctr"/>
          <a:lstStyle/>
          <a:p>
            <a:pPr algn="ctr" indent="0" marL="0">
              <a:buNone/>
            </a:pPr>
            <a:r>
              <a:rPr lang="en-US" sz="2000" dirty="0">
                <a:solidFill>
                  <a:srgbClr val="1F2937"/>
                </a:solidFill>
                <a:latin typeface="Calibri" pitchFamily="34" charset="0"/>
                <a:ea typeface="Calibri" pitchFamily="34" charset="-122"/>
                <a:cs typeface="Calibri" pitchFamily="34" charset="-120"/>
              </a:rPr>
              <a:t>Four numbers he does not have: cost · water · fertiliser bags · return</a:t>
            </a:r>
            <a:endParaRPr lang="en-US" sz="2000" dirty="0"/>
          </a:p>
        </p:txBody>
      </p:sp>
      <p:sp>
        <p:nvSpPr>
          <p:cNvPr id="7" name="Text 4"/>
          <p:cNvSpPr txBox="1"/>
          <p:nvPr/>
        </p:nvSpPr>
        <p:spPr>
          <a:xfrm>
            <a:off x="457200" y="3931920"/>
            <a:ext cx="8229600" cy="502920"/>
          </a:xfrm>
          <a:prstGeom prst="rect">
            <a:avLst/>
          </a:prstGeom>
          <a:noFill/>
          <a:ln/>
        </p:spPr>
        <p:txBody>
          <a:bodyPr wrap="square" lIns="0" tIns="0" rIns="0" bIns="0" rtlCol="0" anchor="ctr"/>
          <a:lstStyle/>
          <a:p>
            <a:pPr algn="ctr" indent="0" marL="0">
              <a:buNone/>
            </a:pPr>
            <a:r>
              <a:rPr lang="en-US" sz="1300" b="1" dirty="0">
                <a:solidFill>
                  <a:srgbClr val="14532D"/>
                </a:solidFill>
                <a:latin typeface="Calibri" pitchFamily="34" charset="0"/>
                <a:ea typeface="Calibri" pitchFamily="34" charset="-122"/>
                <a:cs typeface="Calibri" pitchFamily="34" charset="-120"/>
              </a:rPr>
              <a:t>He already holds the soil test report. Nothing turns it into those numbers — until now.</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decision that cannot be undone</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743200"/>
                <a:gridCol w="274320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Before sowing</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During the season</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At harvest</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Money is spent</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Water is used</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Yield arrives</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Seed goes in</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Fertiliser is applied</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Cost is finally known</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The choice is locked</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The dose is locked</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Too late to change</a:t>
                      </a:r>
                      <a:endParaRPr lang="en-US" sz="16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840480"/>
            <a:ext cx="8229600" cy="5029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Three problems, all measured in rupees the farmer loses.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Three problems</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548640"/>
                <a:gridCol w="4572000"/>
                <a:gridCol w="3108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Problem</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 him</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Decisions made without real information. The lab report is a page of numbers; nobody turns it into a crop choice, fertiliser quantity or cost sheet.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Crop chosen blind. Money and water wasted on the wrong dose.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 planning before harvest. He does not know total expense, water requirement, expected yield or profit.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Learns the cost at season end. Cannot compare two crops.</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P3</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Existing tools need hardware or a paid connection: weather stations, internet, subscriptions, server-hosted models.</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 the field he either pays or goes blind.</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“Every existing tool asks the farmer for what he already knows.”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Who this farmer is</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560320"/>
                <a:gridCol w="3108960"/>
                <a:gridCol w="256032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Fact</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Agriculture share of GDP</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23.4% (FY2025-26)</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Pakistan Economic Survey 2025-26</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Labour force dependent</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Pakistan Economic Survey 2025-26</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Farms under 5 acres</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5.35 M = 64% of farms, on 19% of area</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Agriculture Census 2010 / PJES</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Average farm size</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6.4 acres total, 5.2 cultivated</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Agriculture Census 2010 / PBS</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Punjab share of national wheat</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(22.05 of 28.96 MMT)</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USDA FAS GAIN PK2025-0008</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Punjab share of national rice</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~63%</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TDAP</a:t>
                      </a:r>
                      <a:endParaRPr lang="en-US" sz="11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bl>
          </a:graphicData>
        </a:graphic>
      </p:graphicFrame>
      <p:sp>
        <p:nvSpPr>
          <p:cNvPr id="6" name="Text 2"/>
          <p:cNvSpPr txBox="1"/>
          <p:nvPr/>
        </p:nvSpPr>
        <p:spPr>
          <a:xfrm>
            <a:off x="457200" y="4343400"/>
            <a:ext cx="8229600" cy="5029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This farmer is the median Pakistani farmer.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Where the money leaks</a:t>
            </a:r>
            <a:endParaRPr lang="en-US" sz="2200" dirty="0"/>
          </a:p>
        </p:txBody>
      </p:sp>
      <p:sp>
        <p:nvSpPr>
          <p:cNvPr id="5" name="Shape 2"/>
          <p:cNvSpPr/>
          <p:nvPr/>
        </p:nvSpPr>
        <p:spPr>
          <a:xfrm>
            <a:off x="365760" y="960120"/>
            <a:ext cx="2697480" cy="2834640"/>
          </a:xfrm>
          <a:prstGeom prst="roundRect">
            <a:avLst>
              <a:gd name="adj" fmla="val 2712"/>
            </a:avLst>
          </a:prstGeom>
          <a:solidFill>
            <a:srgbClr val="FFFFFF"/>
          </a:solidFill>
          <a:ln w="12700">
            <a:solidFill>
              <a:srgbClr val="D1D5DB"/>
            </a:solidFill>
            <a:prstDash val="solid"/>
          </a:ln>
        </p:spPr>
      </p:sp>
      <p:sp>
        <p:nvSpPr>
          <p:cNvPr id="6" name="Text 3"/>
          <p:cNvSpPr txBox="1"/>
          <p:nvPr/>
        </p:nvSpPr>
        <p:spPr>
          <a:xfrm>
            <a:off x="457200" y="1005840"/>
            <a:ext cx="2514600" cy="2743200"/>
          </a:xfrm>
          <a:prstGeom prst="rect">
            <a:avLst/>
          </a:prstGeom>
          <a:noFill/>
          <a:ln/>
        </p:spPr>
        <p:txBody>
          <a:bodyPr wrap="square" lIns="0" tIns="0" rIns="0" bIns="0" rtlCol="0" anchor="t"/>
          <a:lstStyle/>
          <a:p>
            <a:pPr indent="0" marL="0">
              <a:spcAft>
                <a:spcPts val="400"/>
              </a:spcAft>
              <a:buNone/>
            </a:pPr>
            <a:r>
              <a:rPr lang="en-US" sz="1000" b="1" dirty="0">
                <a:solidFill>
                  <a:srgbClr val="14532D"/>
                </a:solidFill>
                <a:latin typeface="Calibri" pitchFamily="34" charset="0"/>
                <a:ea typeface="Calibri" pitchFamily="34" charset="-122"/>
                <a:cs typeface="Calibri" pitchFamily="34" charset="-120"/>
              </a:rPr>
              <a:t>A. Nitrogen poured on soil that does not need it</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N:P₂O₅:K₂O use 3.68:1 vs 2:1 recommended (NFDC 2024-25)</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N:P 4.26:1 Jul–Mar FY26; potash 1.3% of offtake</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30–40% of soils K-deficient</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N use efficiency 58% → 23% (Raza et al., ERL 2018)</a:t>
            </a:r>
            <a:endParaRPr lang="en-US" sz="1000" dirty="0"/>
          </a:p>
        </p:txBody>
      </p:sp>
      <p:sp>
        <p:nvSpPr>
          <p:cNvPr id="7" name="Shape 4"/>
          <p:cNvSpPr/>
          <p:nvPr/>
        </p:nvSpPr>
        <p:spPr>
          <a:xfrm>
            <a:off x="3223260" y="960120"/>
            <a:ext cx="2697480" cy="2834640"/>
          </a:xfrm>
          <a:prstGeom prst="roundRect">
            <a:avLst>
              <a:gd name="adj" fmla="val 2712"/>
            </a:avLst>
          </a:prstGeom>
          <a:solidFill>
            <a:srgbClr val="FFFFFF"/>
          </a:solidFill>
          <a:ln w="12700">
            <a:solidFill>
              <a:srgbClr val="D1D5DB"/>
            </a:solidFill>
            <a:prstDash val="solid"/>
          </a:ln>
        </p:spPr>
      </p:sp>
      <p:sp>
        <p:nvSpPr>
          <p:cNvPr id="8" name="Text 5"/>
          <p:cNvSpPr txBox="1"/>
          <p:nvPr/>
        </p:nvSpPr>
        <p:spPr>
          <a:xfrm>
            <a:off x="3314700" y="1005840"/>
            <a:ext cx="2514600" cy="2743200"/>
          </a:xfrm>
          <a:prstGeom prst="rect">
            <a:avLst/>
          </a:prstGeom>
          <a:noFill/>
          <a:ln/>
        </p:spPr>
        <p:txBody>
          <a:bodyPr wrap="square" lIns="0" tIns="0" rIns="0" bIns="0" rtlCol="0" anchor="t"/>
          <a:lstStyle/>
          <a:p>
            <a:pPr indent="0" marL="0">
              <a:spcAft>
                <a:spcPts val="400"/>
              </a:spcAft>
              <a:buNone/>
            </a:pPr>
            <a:r>
              <a:rPr lang="en-US" sz="1000" b="1" dirty="0">
                <a:solidFill>
                  <a:srgbClr val="14532D"/>
                </a:solidFill>
                <a:latin typeface="Calibri" pitchFamily="34" charset="0"/>
                <a:ea typeface="Calibri" pitchFamily="34" charset="-122"/>
                <a:cs typeface="Calibri" pitchFamily="34" charset="-120"/>
              </a:rPr>
              <a:t>B. The same finding, priced</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Closing the P gap: US$2.07 bn on top of US$1.1 bn spent (Cui et al., 2018)</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US$4.4 bn of manure nutrients unused</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Fertiliser = 33.9% of wheat cost, Rs 23,184/acre, Faisalabad</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~Rs 1,200 bn/yr national fertiliser spend</a:t>
            </a:r>
            <a:endParaRPr lang="en-US" sz="1000" dirty="0"/>
          </a:p>
        </p:txBody>
      </p:sp>
      <p:sp>
        <p:nvSpPr>
          <p:cNvPr id="9" name="Shape 6"/>
          <p:cNvSpPr/>
          <p:nvPr/>
        </p:nvSpPr>
        <p:spPr>
          <a:xfrm>
            <a:off x="6080760" y="960120"/>
            <a:ext cx="2697480" cy="2834640"/>
          </a:xfrm>
          <a:prstGeom prst="roundRect">
            <a:avLst>
              <a:gd name="adj" fmla="val 2712"/>
            </a:avLst>
          </a:prstGeom>
          <a:solidFill>
            <a:srgbClr val="FFFFFF"/>
          </a:solidFill>
          <a:ln w="12700">
            <a:solidFill>
              <a:srgbClr val="D1D5DB"/>
            </a:solidFill>
            <a:prstDash val="solid"/>
          </a:ln>
        </p:spPr>
      </p:sp>
      <p:sp>
        <p:nvSpPr>
          <p:cNvPr id="10" name="Text 7"/>
          <p:cNvSpPr txBox="1"/>
          <p:nvPr/>
        </p:nvSpPr>
        <p:spPr>
          <a:xfrm>
            <a:off x="6172200" y="1005840"/>
            <a:ext cx="2514600" cy="2743200"/>
          </a:xfrm>
          <a:prstGeom prst="rect">
            <a:avLst/>
          </a:prstGeom>
          <a:noFill/>
          <a:ln/>
        </p:spPr>
        <p:txBody>
          <a:bodyPr wrap="square" lIns="0" tIns="0" rIns="0" bIns="0" rtlCol="0" anchor="t"/>
          <a:lstStyle/>
          <a:p>
            <a:pPr indent="0" marL="0">
              <a:spcAft>
                <a:spcPts val="400"/>
              </a:spcAft>
              <a:buNone/>
            </a:pPr>
            <a:r>
              <a:rPr lang="en-US" sz="1000" b="1" dirty="0">
                <a:solidFill>
                  <a:srgbClr val="14532D"/>
                </a:solidFill>
                <a:latin typeface="Calibri" pitchFamily="34" charset="0"/>
                <a:ea typeface="Calibri" pitchFamily="34" charset="-122"/>
                <a:cs typeface="Calibri" pitchFamily="34" charset="-120"/>
              </a:rPr>
              <a:t>C. Water over-applied ~2×</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Wheat: 430 mm vs 190 mm bed-planted (−56%), PCRWR 2023</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Rice: 302 cm vs 161 cm (−47%)</a:t>
            </a:r>
            <a:endParaRPr lang="en-US" sz="1000" dirty="0"/>
          </a:p>
          <a:p>
            <a:pPr marL="342900" indent="-342900">
              <a:spcAft>
                <a:spcPts val="400"/>
              </a:spcAft>
              <a:buSzPct val="100000"/>
              <a:buChar char="•"/>
            </a:pPr>
            <a:r>
              <a:rPr lang="en-US" sz="1000" dirty="0">
                <a:solidFill>
                  <a:srgbClr val="1F2937"/>
                </a:solidFill>
                <a:latin typeface="Calibri" pitchFamily="34" charset="0"/>
                <a:ea typeface="Calibri" pitchFamily="34" charset="-122"/>
                <a:cs typeface="Calibri" pitchFamily="34" charset="-120"/>
              </a:rPr>
              <a:t>Farmers apply “2–3 times or even more” the requirement</a:t>
            </a:r>
            <a:endParaRPr lang="en-US" sz="1000" dirty="0"/>
          </a:p>
        </p:txBody>
      </p:sp>
      <p:sp>
        <p:nvSpPr>
          <p:cNvPr id="11" name="Text 8"/>
          <p:cNvSpPr txBox="1"/>
          <p:nvPr/>
        </p:nvSpPr>
        <p:spPr>
          <a:xfrm>
            <a:off x="457200" y="4023360"/>
            <a:ext cx="8229600" cy="7315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The imbalance is not ignorance about farming. It is a missing number. Our project produces that number.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Why existing tools do not answer it</a:t>
            </a:r>
            <a:endParaRPr lang="en-US" sz="2200" dirty="0"/>
          </a:p>
        </p:txBody>
      </p:sp>
      <p:sp>
        <p:nvSpPr>
          <p:cNvPr id="5" name="Shape 2"/>
          <p:cNvSpPr/>
          <p:nvPr/>
        </p:nvSpPr>
        <p:spPr>
          <a:xfrm>
            <a:off x="457200" y="1005840"/>
            <a:ext cx="3931920" cy="2194560"/>
          </a:xfrm>
          <a:prstGeom prst="roundRect">
            <a:avLst>
              <a:gd name="adj" fmla="val 3333"/>
            </a:avLst>
          </a:prstGeom>
          <a:solidFill>
            <a:srgbClr val="FFFFFF"/>
          </a:solidFill>
          <a:ln w="12700">
            <a:solidFill>
              <a:srgbClr val="D1D5DB"/>
            </a:solidFill>
            <a:prstDash val="solid"/>
          </a:ln>
        </p:spPr>
      </p:sp>
      <p:sp>
        <p:nvSpPr>
          <p:cNvPr id="6" name="Text 3"/>
          <p:cNvSpPr txBox="1"/>
          <p:nvPr/>
        </p:nvSpPr>
        <p:spPr>
          <a:xfrm>
            <a:off x="548640" y="1051560"/>
            <a:ext cx="3749040" cy="2103120"/>
          </a:xfrm>
          <a:prstGeom prst="rect">
            <a:avLst/>
          </a:prstGeom>
          <a:noFill/>
          <a:ln/>
        </p:spPr>
        <p:txBody>
          <a:bodyPr wrap="square" lIns="0" tIns="0" rIns="0" bIns="0" rtlCol="0" anchor="t"/>
          <a:lstStyle/>
          <a:p>
            <a:pPr indent="0" marL="0">
              <a:spcAft>
                <a:spcPts val="400"/>
              </a:spcAft>
              <a:buNone/>
            </a:pPr>
            <a:r>
              <a:rPr lang="en-US" sz="1500" b="1" dirty="0">
                <a:solidFill>
                  <a:srgbClr val="14532D"/>
                </a:solidFill>
                <a:latin typeface="Calibri" pitchFamily="34" charset="0"/>
                <a:ea typeface="Calibri" pitchFamily="34" charset="-122"/>
                <a:cs typeface="Calibri" pitchFamily="34" charset="-120"/>
              </a:rPr>
              <a:t>MandiOye</a:t>
            </a:r>
            <a:endParaRPr lang="en-US" sz="13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25 free calculators incl. fertiliser dose, irrigation water, break-even. But the fertiliser calculator asks you for the nutrient requirement.</a:t>
            </a:r>
            <a:endParaRPr lang="en-US" sz="13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Ours takes only the soil reading — recommendation bands come from SFRI Guide-V.</a:t>
            </a:r>
            <a:endParaRPr lang="en-US" sz="1300" dirty="0"/>
          </a:p>
        </p:txBody>
      </p:sp>
      <p:sp>
        <p:nvSpPr>
          <p:cNvPr id="7" name="Shape 4"/>
          <p:cNvSpPr/>
          <p:nvPr/>
        </p:nvSpPr>
        <p:spPr>
          <a:xfrm>
            <a:off x="4754880" y="1005840"/>
            <a:ext cx="3931920" cy="2194560"/>
          </a:xfrm>
          <a:prstGeom prst="roundRect">
            <a:avLst>
              <a:gd name="adj" fmla="val 3333"/>
            </a:avLst>
          </a:prstGeom>
          <a:solidFill>
            <a:srgbClr val="FFFFFF"/>
          </a:solidFill>
          <a:ln w="12700">
            <a:solidFill>
              <a:srgbClr val="D1D5DB"/>
            </a:solidFill>
            <a:prstDash val="solid"/>
          </a:ln>
        </p:spPr>
      </p:sp>
      <p:sp>
        <p:nvSpPr>
          <p:cNvPr id="8" name="Text 5"/>
          <p:cNvSpPr txBox="1"/>
          <p:nvPr/>
        </p:nvSpPr>
        <p:spPr>
          <a:xfrm>
            <a:off x="4846320" y="1051560"/>
            <a:ext cx="3749040" cy="2103120"/>
          </a:xfrm>
          <a:prstGeom prst="rect">
            <a:avLst/>
          </a:prstGeom>
          <a:noFill/>
          <a:ln/>
        </p:spPr>
        <p:txBody>
          <a:bodyPr wrap="square" lIns="0" tIns="0" rIns="0" bIns="0" rtlCol="0" anchor="t"/>
          <a:lstStyle/>
          <a:p>
            <a:pPr indent="0" marL="0">
              <a:spcAft>
                <a:spcPts val="400"/>
              </a:spcAft>
              <a:buNone/>
            </a:pPr>
            <a:r>
              <a:rPr lang="en-US" sz="1500" b="1" dirty="0">
                <a:solidFill>
                  <a:srgbClr val="14532D"/>
                </a:solidFill>
                <a:latin typeface="Calibri" pitchFamily="34" charset="0"/>
                <a:ea typeface="Calibri" pitchFamily="34" charset="-122"/>
                <a:cs typeface="Calibri" pitchFamily="34" charset="-120"/>
              </a:rPr>
              <a:t>Bakhabar Kissan</a:t>
            </a:r>
            <a:endParaRPr lang="en-US" sz="13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~12 M farmers via IVR/SMS, ~216 k app users = 1.8% (GSMA, March 2025).</a:t>
            </a:r>
            <a:endParaRPr lang="en-US" sz="13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India’s Kisan Sarathi: 21,517 of 2.95 crore via app = 0.07% (PIB, June 2026).</a:t>
            </a:r>
            <a:endParaRPr lang="en-US" sz="1300" dirty="0"/>
          </a:p>
        </p:txBody>
      </p:sp>
      <p:sp>
        <p:nvSpPr>
          <p:cNvPr id="9" name="Text 6"/>
          <p:cNvSpPr txBox="1"/>
          <p:nvPr/>
        </p:nvSpPr>
        <p:spPr>
          <a:xfrm>
            <a:off x="457200" y="3383280"/>
            <a:ext cx="8229600" cy="457200"/>
          </a:xfrm>
          <a:prstGeom prst="rect">
            <a:avLst/>
          </a:prstGeom>
          <a:noFill/>
          <a:ln/>
        </p:spPr>
        <p:txBody>
          <a:bodyPr wrap="square" lIns="0" tIns="0" rIns="0" bIns="0" rtlCol="0" anchor="ctr"/>
          <a:lstStyle/>
          <a:p>
            <a:pPr indent="0" marL="0">
              <a:buNone/>
            </a:pPr>
            <a:r>
              <a:rPr lang="en-US" sz="1600" b="1" dirty="0">
                <a:solidFill>
                  <a:srgbClr val="14532D"/>
                </a:solidFill>
                <a:latin typeface="Calibri" pitchFamily="34" charset="0"/>
                <a:ea typeface="Calibri" pitchFamily="34" charset="-122"/>
                <a:cs typeface="Calibri" pitchFamily="34" charset="-120"/>
              </a:rPr>
              <a:t>“MandiOye’s calculator needs the answer. Ours needs the problem.”</a:t>
            </a:r>
            <a:endParaRPr lang="en-US" sz="1600" dirty="0"/>
          </a:p>
        </p:txBody>
      </p:sp>
      <p:sp>
        <p:nvSpPr>
          <p:cNvPr id="10" name="Text 7"/>
          <p:cNvSpPr txBox="1"/>
          <p:nvPr/>
        </p:nvSpPr>
        <p:spPr>
          <a:xfrm>
            <a:off x="457200" y="3840480"/>
            <a:ext cx="8229600" cy="82296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“The largest platform converts 1.8% of users to an app. That is why we did not build another app that needs a signal.”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positioning quadrant</a:t>
            </a:r>
            <a:endParaRPr lang="en-US" sz="2200" dirty="0"/>
          </a:p>
        </p:txBody>
      </p:sp>
      <p:sp>
        <p:nvSpPr>
          <p:cNvPr id="5" name="Shape 2"/>
          <p:cNvSpPr/>
          <p:nvPr/>
        </p:nvSpPr>
        <p:spPr>
          <a:xfrm>
            <a:off x="914400" y="2651760"/>
            <a:ext cx="7315200" cy="0"/>
          </a:xfrm>
          <a:prstGeom prst="line">
            <a:avLst/>
          </a:prstGeom>
          <a:noFill/>
          <a:ln w="19050">
            <a:solidFill>
              <a:srgbClr val="9CA3AF"/>
            </a:solidFill>
            <a:prstDash val="solid"/>
          </a:ln>
        </p:spPr>
      </p:sp>
      <p:sp>
        <p:nvSpPr>
          <p:cNvPr id="6" name="Shape 3"/>
          <p:cNvSpPr/>
          <p:nvPr/>
        </p:nvSpPr>
        <p:spPr>
          <a:xfrm>
            <a:off x="4572000" y="960120"/>
            <a:ext cx="0" cy="3383280"/>
          </a:xfrm>
          <a:prstGeom prst="line">
            <a:avLst/>
          </a:prstGeom>
          <a:noFill/>
          <a:ln w="19050">
            <a:solidFill>
              <a:srgbClr val="9CA3AF"/>
            </a:solidFill>
            <a:prstDash val="solid"/>
          </a:ln>
        </p:spPr>
      </p:sp>
      <p:sp>
        <p:nvSpPr>
          <p:cNvPr id="7" name="Text 4"/>
          <p:cNvSpPr txBox="1"/>
          <p:nvPr/>
        </p:nvSpPr>
        <p:spPr>
          <a:xfrm>
            <a:off x="4663440" y="914400"/>
            <a:ext cx="3200400" cy="2286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NUMERIC DECISION SUPPORT ▲</a:t>
            </a:r>
            <a:endParaRPr lang="en-US" sz="1000" dirty="0"/>
          </a:p>
        </p:txBody>
      </p:sp>
      <p:sp>
        <p:nvSpPr>
          <p:cNvPr id="8" name="Text 5"/>
          <p:cNvSpPr txBox="1"/>
          <p:nvPr/>
        </p:nvSpPr>
        <p:spPr>
          <a:xfrm>
            <a:off x="4663440" y="4114800"/>
            <a:ext cx="3200400" cy="2286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INFO / ADVISORY ONLY ▼</a:t>
            </a:r>
            <a:endParaRPr lang="en-US" sz="1000" dirty="0"/>
          </a:p>
        </p:txBody>
      </p:sp>
      <p:sp>
        <p:nvSpPr>
          <p:cNvPr id="9" name="Text 6"/>
          <p:cNvSpPr txBox="1"/>
          <p:nvPr/>
        </p:nvSpPr>
        <p:spPr>
          <a:xfrm>
            <a:off x="457200" y="2743200"/>
            <a:ext cx="1828800" cy="2286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NEEDS NETWORK</a:t>
            </a:r>
            <a:endParaRPr lang="en-US" sz="1000" dirty="0"/>
          </a:p>
        </p:txBody>
      </p:sp>
      <p:sp>
        <p:nvSpPr>
          <p:cNvPr id="10" name="Text 7"/>
          <p:cNvSpPr txBox="1"/>
          <p:nvPr/>
        </p:nvSpPr>
        <p:spPr>
          <a:xfrm>
            <a:off x="6949440" y="2743200"/>
            <a:ext cx="173736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100% OFFLINE ►</a:t>
            </a:r>
            <a:endParaRPr lang="en-US" sz="1000" dirty="0"/>
          </a:p>
        </p:txBody>
      </p:sp>
      <p:sp>
        <p:nvSpPr>
          <p:cNvPr id="11" name="Shape 8"/>
          <p:cNvSpPr/>
          <p:nvPr/>
        </p:nvSpPr>
        <p:spPr>
          <a:xfrm>
            <a:off x="7050024" y="2734056"/>
            <a:ext cx="164592" cy="164592"/>
          </a:xfrm>
          <a:prstGeom prst="ellipse">
            <a:avLst/>
          </a:prstGeom>
          <a:solidFill>
            <a:srgbClr val="14532D"/>
          </a:solidFill>
          <a:ln w="12700">
            <a:solidFill>
              <a:srgbClr val="14532D"/>
            </a:solidFill>
            <a:prstDash val="solid"/>
          </a:ln>
        </p:spPr>
      </p:sp>
      <p:sp>
        <p:nvSpPr>
          <p:cNvPr id="12" name="Text 9"/>
          <p:cNvSpPr txBox="1"/>
          <p:nvPr/>
        </p:nvSpPr>
        <p:spPr>
          <a:xfrm>
            <a:off x="5440680" y="2578608"/>
            <a:ext cx="1554480" cy="256032"/>
          </a:xfrm>
          <a:prstGeom prst="rect">
            <a:avLst/>
          </a:prstGeom>
          <a:noFill/>
          <a:ln/>
        </p:spPr>
        <p:txBody>
          <a:bodyPr wrap="square" lIns="0" tIns="0" rIns="0" bIns="0" rtlCol="0" anchor="ctr"/>
          <a:lstStyle/>
          <a:p>
            <a:pPr algn="r" indent="0" marL="0">
              <a:buNone/>
            </a:pPr>
            <a:r>
              <a:rPr lang="en-US" sz="1050" dirty="0">
                <a:solidFill>
                  <a:srgbClr val="1F2937"/>
                </a:solidFill>
                <a:latin typeface="Calibri" pitchFamily="34" charset="0"/>
                <a:ea typeface="Calibri" pitchFamily="34" charset="-122"/>
                <a:cs typeface="Calibri" pitchFamily="34" charset="-120"/>
              </a:rPr>
              <a:t>PlantVillage</a:t>
            </a:r>
            <a:endParaRPr lang="en-US" sz="1050" dirty="0"/>
          </a:p>
        </p:txBody>
      </p:sp>
      <p:sp>
        <p:nvSpPr>
          <p:cNvPr id="13" name="Shape 10"/>
          <p:cNvSpPr/>
          <p:nvPr/>
        </p:nvSpPr>
        <p:spPr>
          <a:xfrm>
            <a:off x="7415784" y="2898648"/>
            <a:ext cx="164592" cy="164592"/>
          </a:xfrm>
          <a:prstGeom prst="ellipse">
            <a:avLst/>
          </a:prstGeom>
          <a:solidFill>
            <a:srgbClr val="14532D"/>
          </a:solidFill>
          <a:ln w="12700">
            <a:solidFill>
              <a:srgbClr val="14532D"/>
            </a:solidFill>
            <a:prstDash val="solid"/>
          </a:ln>
        </p:spPr>
      </p:sp>
      <p:sp>
        <p:nvSpPr>
          <p:cNvPr id="14" name="Text 11"/>
          <p:cNvSpPr txBox="1"/>
          <p:nvPr/>
        </p:nvSpPr>
        <p:spPr>
          <a:xfrm>
            <a:off x="5806440" y="2944368"/>
            <a:ext cx="1554480" cy="256032"/>
          </a:xfrm>
          <a:prstGeom prst="rect">
            <a:avLst/>
          </a:prstGeom>
          <a:noFill/>
          <a:ln/>
        </p:spPr>
        <p:txBody>
          <a:bodyPr wrap="square" lIns="0" tIns="0" rIns="0" bIns="0" rtlCol="0" anchor="ctr"/>
          <a:lstStyle/>
          <a:p>
            <a:pPr algn="r" indent="0" marL="0">
              <a:buNone/>
            </a:pPr>
            <a:r>
              <a:rPr lang="en-US" sz="1050" dirty="0">
                <a:solidFill>
                  <a:srgbClr val="1F2937"/>
                </a:solidFill>
                <a:latin typeface="Calibri" pitchFamily="34" charset="0"/>
                <a:ea typeface="Calibri" pitchFamily="34" charset="-122"/>
                <a:cs typeface="Calibri" pitchFamily="34" charset="-120"/>
              </a:rPr>
              <a:t>Leafwise</a:t>
            </a:r>
            <a:endParaRPr lang="en-US" sz="1050" dirty="0"/>
          </a:p>
        </p:txBody>
      </p:sp>
      <p:sp>
        <p:nvSpPr>
          <p:cNvPr id="15" name="Shape 12"/>
          <p:cNvSpPr/>
          <p:nvPr/>
        </p:nvSpPr>
        <p:spPr>
          <a:xfrm>
            <a:off x="2660904" y="3227832"/>
            <a:ext cx="164592" cy="164592"/>
          </a:xfrm>
          <a:prstGeom prst="ellipse">
            <a:avLst/>
          </a:prstGeom>
          <a:solidFill>
            <a:srgbClr val="14532D"/>
          </a:solidFill>
          <a:ln w="12700">
            <a:solidFill>
              <a:srgbClr val="14532D"/>
            </a:solidFill>
            <a:prstDash val="solid"/>
          </a:ln>
        </p:spPr>
      </p:sp>
      <p:sp>
        <p:nvSpPr>
          <p:cNvPr id="16" name="Text 13"/>
          <p:cNvSpPr txBox="1"/>
          <p:nvPr/>
        </p:nvSpPr>
        <p:spPr>
          <a:xfrm>
            <a:off x="2880360" y="3182112"/>
            <a:ext cx="1554480" cy="25603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Bakhabar Kissan</a:t>
            </a:r>
            <a:endParaRPr lang="en-US" sz="1050" dirty="0"/>
          </a:p>
        </p:txBody>
      </p:sp>
      <p:sp>
        <p:nvSpPr>
          <p:cNvPr id="17" name="Shape 14"/>
          <p:cNvSpPr/>
          <p:nvPr/>
        </p:nvSpPr>
        <p:spPr>
          <a:xfrm>
            <a:off x="3392424" y="2075688"/>
            <a:ext cx="164592" cy="164592"/>
          </a:xfrm>
          <a:prstGeom prst="ellipse">
            <a:avLst/>
          </a:prstGeom>
          <a:solidFill>
            <a:srgbClr val="14532D"/>
          </a:solidFill>
          <a:ln w="12700">
            <a:solidFill>
              <a:srgbClr val="14532D"/>
            </a:solidFill>
            <a:prstDash val="solid"/>
          </a:ln>
        </p:spPr>
      </p:sp>
      <p:sp>
        <p:nvSpPr>
          <p:cNvPr id="18" name="Text 15"/>
          <p:cNvSpPr txBox="1"/>
          <p:nvPr/>
        </p:nvSpPr>
        <p:spPr>
          <a:xfrm>
            <a:off x="3611880" y="2029968"/>
            <a:ext cx="1554480" cy="25603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MandiOye</a:t>
            </a:r>
            <a:endParaRPr lang="en-US" sz="1050" dirty="0"/>
          </a:p>
        </p:txBody>
      </p:sp>
      <p:sp>
        <p:nvSpPr>
          <p:cNvPr id="19" name="Shape 16"/>
          <p:cNvSpPr/>
          <p:nvPr/>
        </p:nvSpPr>
        <p:spPr>
          <a:xfrm>
            <a:off x="2295144" y="2569464"/>
            <a:ext cx="164592" cy="164592"/>
          </a:xfrm>
          <a:prstGeom prst="ellipse">
            <a:avLst/>
          </a:prstGeom>
          <a:solidFill>
            <a:srgbClr val="14532D"/>
          </a:solidFill>
          <a:ln w="12700">
            <a:solidFill>
              <a:srgbClr val="14532D"/>
            </a:solidFill>
            <a:prstDash val="solid"/>
          </a:ln>
        </p:spPr>
      </p:sp>
      <p:sp>
        <p:nvSpPr>
          <p:cNvPr id="20" name="Text 17"/>
          <p:cNvSpPr txBox="1"/>
          <p:nvPr/>
        </p:nvSpPr>
        <p:spPr>
          <a:xfrm>
            <a:off x="2514600" y="2523744"/>
            <a:ext cx="1554480" cy="25603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Kisan Sarathi</a:t>
            </a:r>
            <a:endParaRPr lang="en-US" sz="1050" dirty="0"/>
          </a:p>
        </p:txBody>
      </p:sp>
      <p:sp>
        <p:nvSpPr>
          <p:cNvPr id="21" name="Shape 18"/>
          <p:cNvSpPr/>
          <p:nvPr/>
        </p:nvSpPr>
        <p:spPr>
          <a:xfrm>
            <a:off x="2295144" y="2240280"/>
            <a:ext cx="164592" cy="164592"/>
          </a:xfrm>
          <a:prstGeom prst="ellipse">
            <a:avLst/>
          </a:prstGeom>
          <a:solidFill>
            <a:srgbClr val="14532D"/>
          </a:solidFill>
          <a:ln w="12700">
            <a:solidFill>
              <a:srgbClr val="14532D"/>
            </a:solidFill>
            <a:prstDash val="solid"/>
          </a:ln>
        </p:spPr>
      </p:sp>
      <p:sp>
        <p:nvSpPr>
          <p:cNvPr id="22" name="Text 19"/>
          <p:cNvSpPr txBox="1"/>
          <p:nvPr/>
        </p:nvSpPr>
        <p:spPr>
          <a:xfrm>
            <a:off x="2514600" y="2194560"/>
            <a:ext cx="1554480" cy="25603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Miraitu</a:t>
            </a:r>
            <a:endParaRPr lang="en-US" sz="1050" dirty="0"/>
          </a:p>
        </p:txBody>
      </p:sp>
      <p:sp>
        <p:nvSpPr>
          <p:cNvPr id="23" name="Shape 20"/>
          <p:cNvSpPr/>
          <p:nvPr/>
        </p:nvSpPr>
        <p:spPr>
          <a:xfrm>
            <a:off x="7781544" y="1746504"/>
            <a:ext cx="164592" cy="164592"/>
          </a:xfrm>
          <a:prstGeom prst="ellipse">
            <a:avLst/>
          </a:prstGeom>
          <a:solidFill>
            <a:srgbClr val="F59E0B"/>
          </a:solidFill>
          <a:ln w="12700">
            <a:solidFill>
              <a:srgbClr val="F59E0B"/>
            </a:solidFill>
            <a:prstDash val="solid"/>
          </a:ln>
        </p:spPr>
      </p:sp>
      <p:sp>
        <p:nvSpPr>
          <p:cNvPr id="24" name="Text 21"/>
          <p:cNvSpPr txBox="1"/>
          <p:nvPr/>
        </p:nvSpPr>
        <p:spPr>
          <a:xfrm>
            <a:off x="6172200" y="1700784"/>
            <a:ext cx="1554480" cy="256032"/>
          </a:xfrm>
          <a:prstGeom prst="rect">
            <a:avLst/>
          </a:prstGeom>
          <a:noFill/>
          <a:ln/>
        </p:spPr>
        <p:txBody>
          <a:bodyPr wrap="square" lIns="0" tIns="0" rIns="0" bIns="0" rtlCol="0" anchor="ctr"/>
          <a:lstStyle/>
          <a:p>
            <a:pPr algn="r" indent="0" marL="0">
              <a:buNone/>
            </a:pPr>
            <a:r>
              <a:rPr lang="en-US" sz="1300" b="1" dirty="0">
                <a:solidFill>
                  <a:srgbClr val="B45309"/>
                </a:solidFill>
                <a:latin typeface="Calibri" pitchFamily="34" charset="0"/>
                <a:ea typeface="Calibri" pitchFamily="34" charset="-122"/>
                <a:cs typeface="Calibri" pitchFamily="34" charset="-120"/>
              </a:rPr>
              <a:t>AgriPulse ★</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 built</a:t>
            </a:r>
            <a:endParaRPr lang="en-US" sz="2200" dirty="0"/>
          </a:p>
        </p:txBody>
      </p:sp>
      <p:sp>
        <p:nvSpPr>
          <p:cNvPr id="5" name="Shape 2"/>
          <p:cNvSpPr/>
          <p:nvPr/>
        </p:nvSpPr>
        <p:spPr>
          <a:xfrm>
            <a:off x="457200" y="914400"/>
            <a:ext cx="8229600" cy="685800"/>
          </a:xfrm>
          <a:prstGeom prst="roundRect">
            <a:avLst>
              <a:gd name="adj" fmla="val 8000"/>
            </a:avLst>
          </a:prstGeom>
          <a:solidFill>
            <a:srgbClr val="FFFFFF"/>
          </a:solidFill>
          <a:ln w="15875">
            <a:solidFill>
              <a:srgbClr val="D1D5DB"/>
            </a:solidFill>
            <a:prstDash val="solid"/>
          </a:ln>
        </p:spPr>
      </p:sp>
      <p:sp>
        <p:nvSpPr>
          <p:cNvPr id="6" name="Text 3"/>
          <p:cNvSpPr txBox="1"/>
          <p:nvPr/>
        </p:nvSpPr>
        <p:spPr>
          <a:xfrm>
            <a:off x="594360" y="932688"/>
            <a:ext cx="7955280" cy="640080"/>
          </a:xfrm>
          <a:prstGeom prst="rect">
            <a:avLst/>
          </a:prstGeom>
          <a:noFill/>
          <a:ln/>
        </p:spPr>
        <p:txBody>
          <a:bodyPr wrap="square" lIns="0" tIns="0" rIns="0" bIns="0" rtlCol="0" anchor="ctr"/>
          <a:lstStyle/>
          <a:p>
            <a:pPr indent="0" marL="0">
              <a:buNone/>
            </a:pPr>
            <a:r>
              <a:rPr lang="en-US" sz="1250" b="1" dirty="0">
                <a:solidFill>
                  <a:srgbClr val="14532D"/>
                </a:solidFill>
                <a:latin typeface="Calibri" pitchFamily="34" charset="0"/>
                <a:ea typeface="Calibri" pitchFamily="34" charset="-122"/>
                <a:cs typeface="Calibri" pitchFamily="34" charset="-120"/>
              </a:rPr>
              <a:t>React 18 + Vite — 5 pages, 2 chart components</a:t>
            </a:r>
            <a:endParaRPr lang="en-US" sz="1250" dirty="0"/>
          </a:p>
          <a:p>
            <a:pPr indent="0" marL="0">
              <a:buNone/>
            </a:pPr>
            <a:r>
              <a:rPr lang="en-US" sz="1050" dirty="0">
                <a:solidFill>
                  <a:srgbClr val="1F2937"/>
                </a:solidFill>
                <a:latin typeface="Calibri" pitchFamily="34" charset="0"/>
                <a:ea typeface="Calibri" pitchFamily="34" charset="-122"/>
                <a:cs typeface="Calibri" pitchFamily="34" charset="-120"/>
              </a:rPr>
              <a:t>Login/Register · Dashboard · Land &amp; Soil Setup · Planner · NPK Advisor</a:t>
            </a:r>
            <a:endParaRPr lang="en-US" sz="1250" dirty="0"/>
          </a:p>
        </p:txBody>
      </p:sp>
      <p:sp>
        <p:nvSpPr>
          <p:cNvPr id="7" name="Shape 4"/>
          <p:cNvSpPr/>
          <p:nvPr/>
        </p:nvSpPr>
        <p:spPr>
          <a:xfrm>
            <a:off x="457200" y="1719072"/>
            <a:ext cx="8229600" cy="685800"/>
          </a:xfrm>
          <a:prstGeom prst="roundRect">
            <a:avLst>
              <a:gd name="adj" fmla="val 8000"/>
            </a:avLst>
          </a:prstGeom>
          <a:solidFill>
            <a:srgbClr val="FFFFFF"/>
          </a:solidFill>
          <a:ln w="15875">
            <a:solidFill>
              <a:srgbClr val="D1D5DB"/>
            </a:solidFill>
            <a:prstDash val="solid"/>
          </a:ln>
        </p:spPr>
      </p:sp>
      <p:sp>
        <p:nvSpPr>
          <p:cNvPr id="8" name="Text 5"/>
          <p:cNvSpPr txBox="1"/>
          <p:nvPr/>
        </p:nvSpPr>
        <p:spPr>
          <a:xfrm>
            <a:off x="594360" y="1737360"/>
            <a:ext cx="7955280" cy="640080"/>
          </a:xfrm>
          <a:prstGeom prst="rect">
            <a:avLst/>
          </a:prstGeom>
          <a:noFill/>
          <a:ln/>
        </p:spPr>
        <p:txBody>
          <a:bodyPr wrap="square" lIns="0" tIns="0" rIns="0" bIns="0" rtlCol="0" anchor="ctr"/>
          <a:lstStyle/>
          <a:p>
            <a:pPr indent="0" marL="0">
              <a:buNone/>
            </a:pPr>
            <a:r>
              <a:rPr lang="en-US" sz="1250" b="1" dirty="0">
                <a:solidFill>
                  <a:srgbClr val="14532D"/>
                </a:solidFill>
                <a:latin typeface="Calibri" pitchFamily="34" charset="0"/>
                <a:ea typeface="Calibri" pitchFamily="34" charset="-122"/>
                <a:cs typeface="Calibri" pitchFamily="34" charset="-120"/>
              </a:rPr>
              <a:t>Express API — 6 route groups, JWT auth, Zod validation</a:t>
            </a:r>
            <a:endParaRPr lang="en-US" sz="1250" dirty="0"/>
          </a:p>
          <a:p>
            <a:pPr indent="0" marL="0">
              <a:buNone/>
            </a:pPr>
            <a:r>
              <a:rPr lang="en-US" sz="1050" dirty="0">
                <a:solidFill>
                  <a:srgbClr val="1F2937"/>
                </a:solidFill>
                <a:latin typeface="Calibri" pitchFamily="34" charset="0"/>
                <a:ea typeface="Calibri" pitchFamily="34" charset="-122"/>
                <a:cs typeface="Calibri" pitchFamily="34" charset="-120"/>
              </a:rPr>
              <a:t>/auth · /ref (districts, crops, soil-types) · /climate · /soil/recommend · /plan/calculate · /simulator/recompute</a:t>
            </a:r>
            <a:endParaRPr lang="en-US" sz="1250" dirty="0"/>
          </a:p>
        </p:txBody>
      </p:sp>
      <p:sp>
        <p:nvSpPr>
          <p:cNvPr id="9" name="Shape 6"/>
          <p:cNvSpPr/>
          <p:nvPr/>
        </p:nvSpPr>
        <p:spPr>
          <a:xfrm>
            <a:off x="457200" y="2523744"/>
            <a:ext cx="8229600" cy="685800"/>
          </a:xfrm>
          <a:prstGeom prst="roundRect">
            <a:avLst>
              <a:gd name="adj" fmla="val 8000"/>
            </a:avLst>
          </a:prstGeom>
          <a:solidFill>
            <a:srgbClr val="FEF3C7"/>
          </a:solidFill>
          <a:ln w="15875">
            <a:solidFill>
              <a:srgbClr val="F59E0B"/>
            </a:solidFill>
            <a:prstDash val="solid"/>
          </a:ln>
        </p:spPr>
      </p:sp>
      <p:sp>
        <p:nvSpPr>
          <p:cNvPr id="10" name="Text 7"/>
          <p:cNvSpPr txBox="1"/>
          <p:nvPr/>
        </p:nvSpPr>
        <p:spPr>
          <a:xfrm>
            <a:off x="594360" y="2542032"/>
            <a:ext cx="7955280" cy="640080"/>
          </a:xfrm>
          <a:prstGeom prst="rect">
            <a:avLst/>
          </a:prstGeom>
          <a:noFill/>
          <a:ln/>
        </p:spPr>
        <p:txBody>
          <a:bodyPr wrap="square" lIns="0" tIns="0" rIns="0" bIns="0" rtlCol="0" anchor="ctr"/>
          <a:lstStyle/>
          <a:p>
            <a:pPr indent="0" marL="0">
              <a:buNone/>
            </a:pPr>
            <a:r>
              <a:rPr lang="en-US" sz="1250" b="1" dirty="0">
                <a:solidFill>
                  <a:srgbClr val="14532D"/>
                </a:solidFill>
                <a:latin typeface="Calibri" pitchFamily="34" charset="0"/>
                <a:ea typeface="Calibri" pitchFamily="34" charset="-122"/>
                <a:cs typeface="Calibri" pitchFamily="34" charset="-120"/>
              </a:rPr>
              <a:t>THE BRAIN — 4 pure calculation services</a:t>
            </a:r>
            <a:endParaRPr lang="en-US" sz="1250" dirty="0"/>
          </a:p>
          <a:p>
            <a:pPr indent="0" marL="0">
              <a:buNone/>
            </a:pPr>
            <a:r>
              <a:rPr lang="en-US" sz="1050" dirty="0">
                <a:solidFill>
                  <a:srgbClr val="1F2937"/>
                </a:solidFill>
                <a:latin typeface="Calibri" pitchFamily="34" charset="0"/>
                <a:ea typeface="Calibri" pitchFamily="34" charset="-122"/>
                <a:cs typeface="Calibri" pitchFamily="34" charset="-120"/>
              </a:rPr>
              <a:t>sfri.service (NPK → bags) · planner.service (cost + water + ROI) · climate.service (suitability) · simulator.service (browser-side what-if)</a:t>
            </a:r>
            <a:endParaRPr lang="en-US" sz="1250" dirty="0"/>
          </a:p>
        </p:txBody>
      </p:sp>
      <p:sp>
        <p:nvSpPr>
          <p:cNvPr id="11" name="Shape 8"/>
          <p:cNvSpPr/>
          <p:nvPr/>
        </p:nvSpPr>
        <p:spPr>
          <a:xfrm>
            <a:off x="457200" y="3328416"/>
            <a:ext cx="8229600" cy="685800"/>
          </a:xfrm>
          <a:prstGeom prst="roundRect">
            <a:avLst>
              <a:gd name="adj" fmla="val 8000"/>
            </a:avLst>
          </a:prstGeom>
          <a:solidFill>
            <a:srgbClr val="FFFFFF"/>
          </a:solidFill>
          <a:ln w="15875">
            <a:solidFill>
              <a:srgbClr val="D1D5DB"/>
            </a:solidFill>
            <a:prstDash val="solid"/>
          </a:ln>
        </p:spPr>
      </p:sp>
      <p:sp>
        <p:nvSpPr>
          <p:cNvPr id="12" name="Text 9"/>
          <p:cNvSpPr txBox="1"/>
          <p:nvPr/>
        </p:nvSpPr>
        <p:spPr>
          <a:xfrm>
            <a:off x="594360" y="3346704"/>
            <a:ext cx="7955280" cy="640080"/>
          </a:xfrm>
          <a:prstGeom prst="rect">
            <a:avLst/>
          </a:prstGeom>
          <a:noFill/>
          <a:ln/>
        </p:spPr>
        <p:txBody>
          <a:bodyPr wrap="square" lIns="0" tIns="0" rIns="0" bIns="0" rtlCol="0" anchor="ctr"/>
          <a:lstStyle/>
          <a:p>
            <a:pPr indent="0" marL="0">
              <a:buNone/>
            </a:pPr>
            <a:r>
              <a:rPr lang="en-US" sz="1250" b="1" dirty="0">
                <a:solidFill>
                  <a:srgbClr val="14532D"/>
                </a:solidFill>
                <a:latin typeface="Calibri" pitchFamily="34" charset="0"/>
                <a:ea typeface="Calibri" pitchFamily="34" charset="-122"/>
                <a:cs typeface="Calibri" pitchFamily="34" charset="-120"/>
              </a:rPr>
              <a:t>MongoDB (local) — 3 user collections + 7 reference</a:t>
            </a:r>
            <a:endParaRPr lang="en-US" sz="1250" dirty="0"/>
          </a:p>
          <a:p>
            <a:pPr indent="0" marL="0">
              <a:buNone/>
            </a:pPr>
            <a:r>
              <a:rPr lang="en-US" sz="1050" dirty="0">
                <a:solidFill>
                  <a:srgbClr val="1F2937"/>
                </a:solidFill>
                <a:latin typeface="Calibri" pitchFamily="34" charset="0"/>
                <a:ea typeface="Calibri" pitchFamily="34" charset="-122"/>
                <a:cs typeface="Calibri" pitchFamily="34" charset="-120"/>
              </a:rPr>
              <a:t>+ 4 bundled JSON assets · 420 reference rows</a:t>
            </a:r>
            <a:endParaRPr lang="en-US" sz="1250" dirty="0"/>
          </a:p>
        </p:txBody>
      </p:sp>
      <p:sp>
        <p:nvSpPr>
          <p:cNvPr id="13" name="Text 10"/>
          <p:cNvSpPr txBox="1"/>
          <p:nvPr/>
        </p:nvSpPr>
        <p:spPr>
          <a:xfrm>
            <a:off x="457200" y="4206240"/>
            <a:ext cx="8229600" cy="640080"/>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User input → published formulas → cited results.  5 pages · 7 screens · 6 routes · 4 services · 3 user collections · 420 reference rows · 0 ML models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Screen walkthrough: land, climate, soil</a:t>
            </a:r>
            <a:endParaRPr lang="en-US" sz="2200" dirty="0"/>
          </a:p>
        </p:txBody>
      </p:sp>
      <p:sp>
        <p:nvSpPr>
          <p:cNvPr id="5" name="Shape 2"/>
          <p:cNvSpPr/>
          <p:nvPr/>
        </p:nvSpPr>
        <p:spPr>
          <a:xfrm>
            <a:off x="457200" y="1005840"/>
            <a:ext cx="3931920" cy="2926080"/>
          </a:xfrm>
          <a:prstGeom prst="roundRect">
            <a:avLst>
              <a:gd name="adj" fmla="val 2500"/>
            </a:avLst>
          </a:prstGeom>
          <a:solidFill>
            <a:srgbClr val="FFFFFF"/>
          </a:solidFill>
          <a:ln w="12700">
            <a:solidFill>
              <a:srgbClr val="D1D5DB"/>
            </a:solidFill>
            <a:prstDash val="solid"/>
          </a:ln>
        </p:spPr>
      </p:sp>
      <p:sp>
        <p:nvSpPr>
          <p:cNvPr id="6" name="Text 3"/>
          <p:cNvSpPr txBox="1"/>
          <p:nvPr/>
        </p:nvSpPr>
        <p:spPr>
          <a:xfrm>
            <a:off x="548640" y="1051560"/>
            <a:ext cx="3749040" cy="2834640"/>
          </a:xfrm>
          <a:prstGeom prst="rect">
            <a:avLst/>
          </a:prstGeom>
          <a:noFill/>
          <a:ln/>
        </p:spPr>
        <p:txBody>
          <a:bodyPr wrap="square" lIns="0" tIns="0" rIns="0" bIns="0" rtlCol="0" anchor="t"/>
          <a:lstStyle/>
          <a:p>
            <a:pPr indent="0" marL="0">
              <a:spcAft>
                <a:spcPts val="400"/>
              </a:spcAft>
              <a:buNone/>
            </a:pPr>
            <a:r>
              <a:rPr lang="en-US" sz="1500" b="1" dirty="0">
                <a:solidFill>
                  <a:srgbClr val="14532D"/>
                </a:solidFill>
                <a:latin typeface="Calibri" pitchFamily="34" charset="0"/>
                <a:ea typeface="Calibri" pitchFamily="34" charset="-122"/>
                <a:cs typeface="Calibri" pitchFamily="34" charset="-120"/>
              </a:rPr>
              <a:t>Land &amp; Soil Setup</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District: Faisalabad</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Area: 6.2 acres (0.1–100)</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Soil type: Loam</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Climate card: 21°C · 22 mm rain · 34% rain probability · 48% RH · frost risk none</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Soil test: N 42 · P 18 · K 55 kg/ha · pH 7.4</a:t>
            </a:r>
            <a:endParaRPr lang="en-US" sz="1250" dirty="0"/>
          </a:p>
        </p:txBody>
      </p:sp>
      <p:sp>
        <p:nvSpPr>
          <p:cNvPr id="7" name="Shape 4"/>
          <p:cNvSpPr/>
          <p:nvPr/>
        </p:nvSpPr>
        <p:spPr>
          <a:xfrm>
            <a:off x="4754880" y="1005840"/>
            <a:ext cx="3931920" cy="2926080"/>
          </a:xfrm>
          <a:prstGeom prst="roundRect">
            <a:avLst>
              <a:gd name="adj" fmla="val 2500"/>
            </a:avLst>
          </a:prstGeom>
          <a:solidFill>
            <a:srgbClr val="FFFFFF"/>
          </a:solidFill>
          <a:ln w="12700">
            <a:solidFill>
              <a:srgbClr val="D1D5DB"/>
            </a:solidFill>
            <a:prstDash val="solid"/>
          </a:ln>
        </p:spPr>
      </p:sp>
      <p:sp>
        <p:nvSpPr>
          <p:cNvPr id="8" name="Text 5"/>
          <p:cNvSpPr txBox="1"/>
          <p:nvPr/>
        </p:nvSpPr>
        <p:spPr>
          <a:xfrm>
            <a:off x="4846320" y="1051560"/>
            <a:ext cx="3749040" cy="2834640"/>
          </a:xfrm>
          <a:prstGeom prst="rect">
            <a:avLst/>
          </a:prstGeom>
          <a:noFill/>
          <a:ln/>
        </p:spPr>
        <p:txBody>
          <a:bodyPr wrap="square" lIns="0" tIns="0" rIns="0" bIns="0" rtlCol="0" anchor="t"/>
          <a:lstStyle/>
          <a:p>
            <a:pPr indent="0" marL="0">
              <a:spcAft>
                <a:spcPts val="400"/>
              </a:spcAft>
              <a:buNone/>
            </a:pPr>
            <a:r>
              <a:rPr lang="en-US" sz="1500" b="1" dirty="0">
                <a:solidFill>
                  <a:srgbClr val="14532D"/>
                </a:solidFill>
                <a:latin typeface="Calibri" pitchFamily="34" charset="0"/>
                <a:ea typeface="Calibri" pitchFamily="34" charset="-122"/>
                <a:cs typeface="Calibri" pitchFamily="34" charset="-120"/>
              </a:rPr>
              <a:t>NPK Advisor (radar)</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Axes: pH, K, P, N — ring = your soil, filled = loam target</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 LOW −18 kg/ha</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P LOW −12 kg/ha</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K HIGH — reduce dose</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pH OK</a:t>
            </a:r>
            <a:endParaRPr lang="en-US" sz="1250" dirty="0"/>
          </a:p>
          <a:p>
            <a:pPr marL="342900" indent="-3429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Source label: SFRI Punjab Guide-V</a:t>
            </a:r>
            <a:endParaRPr lang="en-US" sz="1250" dirty="0"/>
          </a:p>
        </p:txBody>
      </p:sp>
      <p:sp>
        <p:nvSpPr>
          <p:cNvPr id="9" name="Text 6"/>
          <p:cNvSpPr txBox="1"/>
          <p:nvPr/>
        </p:nvSpPr>
        <p:spPr>
          <a:xfrm>
            <a:off x="457200" y="4114800"/>
            <a:ext cx="8229600" cy="7315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“K high, reduce dose” — a system that can tell a farmer not to buy something is not selling him anything.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one calculation that decides the project</a:t>
            </a:r>
            <a:endParaRPr lang="en-US" sz="2200" dirty="0"/>
          </a:p>
        </p:txBody>
      </p:sp>
      <p:sp>
        <p:nvSpPr>
          <p:cNvPr id="5" name="Text 2"/>
          <p:cNvSpPr txBox="1"/>
          <p:nvPr/>
        </p:nvSpPr>
        <p:spPr>
          <a:xfrm>
            <a:off x="0" y="0"/>
            <a:ext cx="91440" cy="91440"/>
          </a:xfrm>
          <a:prstGeom prst="rect">
            <a:avLst/>
          </a:prstGeom>
          <a:noFill/>
          <a:ln/>
        </p:spPr>
        <p:txBody>
          <a:bodyPr wrap="square" rtlCol="0" anchor="ctr"/>
          <a:lstStyle/>
          <a:p>
            <a:pPr indent="0" marL="0">
              <a:buNone/>
            </a:pPr>
            <a:endParaRPr lang="en-US" sz="100" dirty="0"/>
          </a:p>
        </p:txBody>
      </p:sp>
      <p:sp>
        <p:nvSpPr>
          <p:cNvPr id="6" name="Text 3"/>
          <p:cNvSpPr txBox="1"/>
          <p:nvPr/>
        </p:nvSpPr>
        <p:spPr>
          <a:xfrm>
            <a:off x="457200" y="914400"/>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INPUT  </a:t>
            </a:r>
            <a:pPr indent="0" marL="0">
              <a:buNone/>
            </a:pPr>
            <a:r>
              <a:rPr lang="en-US" sz="1050" dirty="0">
                <a:solidFill>
                  <a:srgbClr val="1F2937"/>
                </a:solidFill>
                <a:latin typeface="Calibri" pitchFamily="34" charset="0"/>
                <a:ea typeface="Calibri" pitchFamily="34" charset="-122"/>
                <a:cs typeface="Calibri" pitchFamily="34" charset="-120"/>
              </a:rPr>
              <a:t>N, P, K (ppm or kg/ha), pH, soil type, acres</a:t>
            </a:r>
            <a:endParaRPr lang="en-US" sz="1050" dirty="0"/>
          </a:p>
        </p:txBody>
      </p:sp>
      <p:sp>
        <p:nvSpPr>
          <p:cNvPr id="7" name="Text 4"/>
          <p:cNvSpPr txBox="1"/>
          <p:nvPr/>
        </p:nvSpPr>
        <p:spPr>
          <a:xfrm>
            <a:off x="457200" y="1344168"/>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1 CONVERT  </a:t>
            </a:r>
            <a:pPr indent="0" marL="0">
              <a:buNone/>
            </a:pPr>
            <a:r>
              <a:rPr lang="en-US" sz="1050" dirty="0">
                <a:solidFill>
                  <a:srgbClr val="1F2937"/>
                </a:solidFill>
                <a:latin typeface="Calibri" pitchFamily="34" charset="0"/>
                <a:ea typeface="Calibri" pitchFamily="34" charset="-122"/>
                <a:cs typeface="Calibri" pitchFamily="34" charset="-120"/>
              </a:rPr>
              <a:t>1 acre-foot soil = 1,000,000 kg ⇒ 1 ppm = 1 kg/acre</a:t>
            </a:r>
            <a:endParaRPr lang="en-US" sz="1050" dirty="0"/>
          </a:p>
        </p:txBody>
      </p:sp>
      <p:sp>
        <p:nvSpPr>
          <p:cNvPr id="8" name="Text 5"/>
          <p:cNvSpPr txBox="1"/>
          <p:nvPr/>
        </p:nvSpPr>
        <p:spPr>
          <a:xfrm>
            <a:off x="457200" y="1773936"/>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2 RANK  </a:t>
            </a:r>
            <a:pPr indent="0" marL="0">
              <a:buNone/>
            </a:pPr>
            <a:r>
              <a:rPr lang="en-US" sz="1050" dirty="0">
                <a:solidFill>
                  <a:srgbClr val="1F2937"/>
                </a:solidFill>
                <a:latin typeface="Calibri" pitchFamily="34" charset="0"/>
                <a:ea typeface="Calibri" pitchFamily="34" charset="-122"/>
                <a:cs typeface="Calibri" pitchFamily="34" charset="-120"/>
              </a:rPr>
              <a:t>Poor / Medium / Adequate vs SFRI band for the soil type</a:t>
            </a:r>
            <a:endParaRPr lang="en-US" sz="1050" dirty="0"/>
          </a:p>
        </p:txBody>
      </p:sp>
      <p:sp>
        <p:nvSpPr>
          <p:cNvPr id="9" name="Text 6"/>
          <p:cNvSpPr txBox="1"/>
          <p:nvPr/>
        </p:nvSpPr>
        <p:spPr>
          <a:xfrm>
            <a:off x="457200" y="2203704"/>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3 SELECT  </a:t>
            </a:r>
            <a:pPr indent="0" marL="0">
              <a:buNone/>
            </a:pPr>
            <a:r>
              <a:rPr lang="en-US" sz="1050" dirty="0">
                <a:solidFill>
                  <a:srgbClr val="1F2937"/>
                </a:solidFill>
                <a:latin typeface="Calibri" pitchFamily="34" charset="0"/>
                <a:ea typeface="Calibri" pitchFamily="34" charset="-122"/>
                <a:cs typeface="Calibri" pitchFamily="34" charset="-120"/>
              </a:rPr>
              <a:t>Crop requirement from SFRI Guide-V for that band</a:t>
            </a:r>
            <a:endParaRPr lang="en-US" sz="1050" dirty="0"/>
          </a:p>
        </p:txBody>
      </p:sp>
      <p:sp>
        <p:nvSpPr>
          <p:cNvPr id="10" name="Text 7"/>
          <p:cNvSpPr txBox="1"/>
          <p:nvPr/>
        </p:nvSpPr>
        <p:spPr>
          <a:xfrm>
            <a:off x="457200" y="2633472"/>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4 SUBTRACT  </a:t>
            </a:r>
            <a:pPr indent="0" marL="0">
              <a:buNone/>
            </a:pPr>
            <a:r>
              <a:rPr lang="en-US" sz="1050" dirty="0">
                <a:solidFill>
                  <a:srgbClr val="1F2937"/>
                </a:solidFill>
                <a:latin typeface="Calibri" pitchFamily="34" charset="0"/>
                <a:ea typeface="Calibri" pitchFamily="34" charset="-122"/>
                <a:cs typeface="Calibri" pitchFamily="34" charset="-120"/>
              </a:rPr>
              <a:t>Need = crop requirement − farmer’s soil test value</a:t>
            </a:r>
            <a:endParaRPr lang="en-US" sz="1050" dirty="0"/>
          </a:p>
        </p:txBody>
      </p:sp>
      <p:sp>
        <p:nvSpPr>
          <p:cNvPr id="11" name="Text 8"/>
          <p:cNvSpPr txBox="1"/>
          <p:nvPr/>
        </p:nvSpPr>
        <p:spPr>
          <a:xfrm>
            <a:off x="457200" y="3063240"/>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5 CONVERT  </a:t>
            </a:r>
            <a:pPr indent="0" marL="0">
              <a:buNone/>
            </a:pPr>
            <a:r>
              <a:rPr lang="en-US" sz="1050" dirty="0">
                <a:solidFill>
                  <a:srgbClr val="1F2937"/>
                </a:solidFill>
                <a:latin typeface="Calibri" pitchFamily="34" charset="0"/>
                <a:ea typeface="Calibri" pitchFamily="34" charset="-122"/>
                <a:cs typeface="Calibri" pitchFamily="34" charset="-120"/>
              </a:rPr>
              <a:t>Urea 46% N = 23 kg N/bag · DAP 46% P₂O₅ = 23 kg/bag · MOP 60% K₂O = 30 kg/bag</a:t>
            </a:r>
            <a:endParaRPr lang="en-US" sz="1050" dirty="0"/>
          </a:p>
        </p:txBody>
      </p:sp>
      <p:sp>
        <p:nvSpPr>
          <p:cNvPr id="12" name="Text 9"/>
          <p:cNvSpPr txBox="1"/>
          <p:nvPr/>
        </p:nvSpPr>
        <p:spPr>
          <a:xfrm>
            <a:off x="457200" y="3493008"/>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6 CEIL  </a:t>
            </a:r>
            <a:pPr indent="0" marL="0">
              <a:buNone/>
            </a:pPr>
            <a:r>
              <a:rPr lang="en-US" sz="1050" dirty="0">
                <a:solidFill>
                  <a:srgbClr val="1F2937"/>
                </a:solidFill>
                <a:latin typeface="Calibri" pitchFamily="34" charset="0"/>
                <a:ea typeface="Calibri" pitchFamily="34" charset="-122"/>
                <a:cs typeface="Calibri" pitchFamily="34" charset="-120"/>
              </a:rPr>
              <a:t>bags/acre × acres, rounded UP — ZERO if already above target</a:t>
            </a:r>
            <a:endParaRPr lang="en-US" sz="1050" dirty="0"/>
          </a:p>
        </p:txBody>
      </p:sp>
      <p:sp>
        <p:nvSpPr>
          <p:cNvPr id="13" name="Text 10"/>
          <p:cNvSpPr txBox="1"/>
          <p:nvPr/>
        </p:nvSpPr>
        <p:spPr>
          <a:xfrm>
            <a:off x="457200" y="3922776"/>
            <a:ext cx="4846320" cy="41148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OUTPUT  </a:t>
            </a:r>
            <a:pPr indent="0" marL="0">
              <a:buNone/>
            </a:pPr>
            <a:r>
              <a:rPr lang="en-US" sz="1050" dirty="0">
                <a:solidFill>
                  <a:srgbClr val="1F2937"/>
                </a:solidFill>
                <a:latin typeface="Calibri" pitchFamily="34" charset="0"/>
                <a:ea typeface="Calibri" pitchFamily="34" charset="-122"/>
                <a:cs typeface="Calibri" pitchFamily="34" charset="-120"/>
              </a:rPr>
              <a:t>Urea, DAP, MOP bags · PKR cost · radar chart</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554480"/>
                <a:gridCol w="1188720"/>
                <a:gridCol w="457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Published figure</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Match</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Cotton: 2.35 bags urea/acre</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PCPA Cotton Book</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Cotton: 1.04 bags DAP/acre</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PCPA Cotton Book</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bl>
          </a:graphicData>
        </a:graphic>
      </p:graphicFrame>
      <p:sp>
        <p:nvSpPr>
          <p:cNvPr id="15" name="Text 11"/>
          <p:cNvSpPr txBox="1"/>
          <p:nvPr/>
        </p:nvSpPr>
        <p:spPr>
          <a:xfrm>
            <a:off x="457200" y="4434840"/>
            <a:ext cx="8229600" cy="548640"/>
          </a:xfrm>
          <a:prstGeom prst="rect">
            <a:avLst/>
          </a:prstGeom>
          <a:noFill/>
          <a:ln/>
        </p:spPr>
        <p:txBody>
          <a:bodyPr wrap="square" lIns="0" tIns="0" rIns="0" bIns="0" rtlCol="0" anchor="ctr"/>
          <a:lstStyle/>
          <a:p>
            <a:pPr indent="0" marL="0">
              <a:buNone/>
            </a:pPr>
            <a:r>
              <a:rPr lang="en-US" sz="1200" b="1" dirty="0">
                <a:solidFill>
                  <a:srgbClr val="14532D"/>
                </a:solidFill>
                <a:latin typeface="Calibri" pitchFamily="34" charset="0"/>
                <a:ea typeface="Calibri" pitchFamily="34" charset="-122"/>
                <a:cs typeface="Calibri" pitchFamily="34" charset="-120"/>
              </a:rPr>
              <a:t>Week 5 is reserved for this one test. If the bags do not reproduce the published figure, the method is wrong and we fix it first.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four numbers the farmer never sees today</a:t>
            </a:r>
            <a:endParaRPr lang="en-US" sz="2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286000"/>
                <a:gridCol w="2834640"/>
                <a:gridCol w="310896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 item</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PKR per acre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Land preparation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[seeded rate]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PCPA Cotton Book / PAU Package of Practices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Seed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[seeded rate]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PAU Package of Practices Rabi 2025-26</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Urea · DAP</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[bags/acre × NFDC price]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SFRI Guide-V dose × NFDC retail price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Labour · Transport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[seeded rate]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PAU Package of Practices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Water</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[irrigations × fuel cost]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FAO-56 method × official diesel price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cost per acre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[sum]</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Water need · Yield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[litres, n irrigations] · [n maund @ price]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FAO-56 · PAU district yield bands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Net profit · ROI · break-even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[values]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Calculated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one idea the farmer takes away</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011680"/>
                <a:gridCol w="2468880"/>
                <a:gridCol w="2468880"/>
                <a:gridCol w="1280160"/>
              </a:tblGrid>
              <a:tr h="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Crop · area · budget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Wheat · 6.2 ac · PKR 250,000</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Rice · 8.0 ac · PKR 300,000</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Revenue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Profit</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ROI</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 points</a:t>
                      </a:r>
                      <a:endParaRPr lang="en-US" sz="12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2"/>
          <p:cNvSpPr/>
          <p:nvPr/>
        </p:nvSpPr>
        <p:spPr>
          <a:xfrm>
            <a:off x="457200" y="3657600"/>
            <a:ext cx="8229600" cy="914400"/>
          </a:xfrm>
          <a:prstGeom prst="roundRect">
            <a:avLst>
              <a:gd name="adj" fmla="val 8000"/>
            </a:avLst>
          </a:prstGeom>
          <a:solidFill>
            <a:srgbClr val="FEF3C7"/>
          </a:solidFill>
          <a:ln w="19050">
            <a:solidFill>
              <a:srgbClr val="F59E0B"/>
            </a:solidFill>
            <a:prstDash val="solid"/>
          </a:ln>
        </p:spPr>
      </p:sp>
      <p:sp>
        <p:nvSpPr>
          <p:cNvPr id="7" name="Text 3"/>
          <p:cNvSpPr txBox="1"/>
          <p:nvPr/>
        </p:nvSpPr>
        <p:spPr>
          <a:xfrm>
            <a:off x="640080" y="3657600"/>
            <a:ext cx="7863840" cy="914400"/>
          </a:xfrm>
          <a:prstGeom prst="rect">
            <a:avLst/>
          </a:prstGeom>
          <a:noFill/>
          <a:ln/>
        </p:spPr>
        <p:txBody>
          <a:bodyPr wrap="square" lIns="0" tIns="0" rIns="0" bIns="0" rtlCol="0" anchor="ctr"/>
          <a:lstStyle/>
          <a:p>
            <a:pPr algn="ctr" indent="0" marL="0">
              <a:buNone/>
            </a:pPr>
            <a:r>
              <a:rPr lang="en-US" sz="1800" b="1" dirty="0">
                <a:solidFill>
                  <a:srgbClr val="92400E"/>
                </a:solidFill>
                <a:latin typeface="Calibri" pitchFamily="34" charset="0"/>
                <a:ea typeface="Calibri" pitchFamily="34" charset="-122"/>
                <a:cs typeface="Calibri" pitchFamily="34" charset="-120"/>
              </a:rPr>
              <a:t>More land, same budget → profit rises but ROI falls. Bigger is not always better.</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Every number carries its citation</a:t>
            </a:r>
            <a:endParaRPr lang="en-US" sz="2200" dirty="0"/>
          </a:p>
        </p:txBody>
      </p:sp>
      <p:sp>
        <p:nvSpPr>
          <p:cNvPr id="5" name="Text 2"/>
          <p:cNvSpPr txBox="1"/>
          <p:nvPr/>
        </p:nvSpPr>
        <p:spPr>
          <a:xfrm>
            <a:off x="457200" y="868680"/>
            <a:ext cx="8229600" cy="457200"/>
          </a:xfrm>
          <a:prstGeom prst="rect">
            <a:avLst/>
          </a:prstGeom>
          <a:noFill/>
          <a:ln/>
        </p:spPr>
        <p:txBody>
          <a:bodyPr wrap="square" lIns="0" tIns="0" rIns="0" bIns="0" rtlCol="0" anchor="ctr"/>
          <a:lstStyle/>
          <a:p>
            <a:pPr indent="0" marL="0">
              <a:buNone/>
            </a:pPr>
            <a:r>
              <a:rPr lang="en-US" sz="1100" b="1" dirty="0">
                <a:solidFill>
                  <a:srgbClr val="14532D"/>
                </a:solidFill>
                <a:latin typeface="Calibri" pitchFamily="34" charset="0"/>
                <a:ea typeface="Calibri" pitchFamily="34" charset="-122"/>
                <a:cs typeface="Calibri" pitchFamily="34" charset="-120"/>
              </a:rPr>
              <a:t>Published: </a:t>
            </a:r>
            <a:pPr indent="0" marL="0">
              <a:buNone/>
            </a:pPr>
            <a:r>
              <a:rPr lang="en-US" sz="1100" dirty="0">
                <a:solidFill>
                  <a:srgbClr val="1F2937"/>
                </a:solidFill>
                <a:latin typeface="Calibri" pitchFamily="34" charset="0"/>
                <a:ea typeface="Calibri" pitchFamily="34" charset="-122"/>
                <a:cs typeface="Calibri" pitchFamily="34" charset="-120"/>
              </a:rPr>
              <a:t>copied from a named public source — open it, find the number.   </a:t>
            </a:r>
            <a:pPr indent="0" marL="0">
              <a:buNone/>
            </a:pPr>
            <a:r>
              <a:rPr lang="en-US" sz="1100" b="1" dirty="0">
                <a:solidFill>
                  <a:srgbClr val="14532D"/>
                </a:solidFill>
                <a:latin typeface="Calibri" pitchFamily="34" charset="0"/>
                <a:ea typeface="Calibri" pitchFamily="34" charset="-122"/>
                <a:cs typeface="Calibri" pitchFamily="34" charset="-120"/>
              </a:rPr>
              <a:t>Calculated: </a:t>
            </a:r>
            <a:pPr indent="0" marL="0">
              <a:buNone/>
            </a:pPr>
            <a:r>
              <a:rPr lang="en-US" sz="1100" dirty="0">
                <a:solidFill>
                  <a:srgbClr val="1F2937"/>
                </a:solidFill>
                <a:latin typeface="Calibri" pitchFamily="34" charset="0"/>
                <a:ea typeface="Calibri" pitchFamily="34" charset="-122"/>
                <a:cs typeface="Calibri" pitchFamily="34" charset="-120"/>
              </a:rPr>
              <a:t>a published method on a published figure — read the method, check the arithmetic.</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457200"/>
                <a:gridCol w="2926080"/>
                <a:gridCol w="484632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we take from it</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SFRI Punjab — Guide-V</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N-P-K target ranges per soil type; the recommendation method</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PCPA Cotton Book</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Per-acre cost breakdown; 2.35 / 1.04 bag validation figure</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PAU Package of Practices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Seed rates, varieties, sowing windows, district yield bands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FAO Irrigation &amp; Drainage Paper 56</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Crop coefficients (Kc), ETc method, effective rainfall</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NFDC Fertiliser Statistics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Retail prices of urea, DAP, MOP</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World Bank Climate Portal / NASA POWER</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Monthly temperature, rainfall, ETo normals 1991–2020</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Punjab &amp; Sindh Agriculture Depts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District list, crop calendars, soil type distribution</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Punjab soil testing laboratories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The soil test report the farmer already holds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Tech stack, and the reason for each choice</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280160"/>
                <a:gridCol w="3657600"/>
                <a:gridCol w="32918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Tools (19)</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Frontend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React 18, Vite, React Router, Tailwind CSS, Recharts, Fetch API</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Fast start; built-in Radar chart; browser-native fetch</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Backend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Node.js, Express.js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Pure MERN, one language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Data</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MongoDB (local), Compass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Local mongod = offline by construction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Auth &amp; safety</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JWT, Bcrypt, Zod, Cors, Dotenv, Morgan, Nodemon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 plain-text passwords; per-user isolation; every input validated</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Tooling</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Git + GitHub</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Version control and review</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4114800"/>
            <a:ext cx="8229600" cy="73152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Entirely local: local DB, bundled JSON, local server.   No account, no subscription, no hosted service.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Feasibility: seven weeks, one gate per week</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457200"/>
                <a:gridCol w="4023360"/>
                <a:gridCol w="37490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Wk</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Work</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 you can see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SFRI, PCPA, PAU, climate figures → data files + seed script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Seed script reports row count; sourced vs unavailable crops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Express server, token login, routes, validation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POST /api/auth/login returns a valid token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Screens 1–3, climate service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District and soil values save; climate card displays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Planner screen, cost/water/yield service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Cost, water, yield, ROI appear with citations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NPK screen, SFRI service, radar chart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Bags match the published PCPA figure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What-if simulator, responsive layout, theme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Sliders recompute live; mobile layout holds</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Unit checks, offline test, documentation</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npm test green; works with router switched off</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4434840"/>
            <a:ext cx="8229600" cy="45720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Week 5 is the project. Everything else is engineering.</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this is, honestly: a proof of concept</a:t>
            </a:r>
            <a:endParaRPr lang="en-US" sz="2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371600"/>
                <a:gridCol w="3108960"/>
                <a:gridCol w="37490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Term</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Is that AgriPulse?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Prototype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Throwaway artefact to explore if an idea is worth pursuing</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 — pure functions under unit test; production discipline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Proof of concept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Answers one question: can this approach work? Success is a test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Yes — can published methods be implemented correctly, locally, and verified against an official figure? Week 5 answers it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Usable by real users, supported, complete</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yet — and we do not claim it</a:t>
                      </a:r>
                      <a:endParaRPr lang="en-US" sz="11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611880"/>
            <a:ext cx="8229600" cy="1097280"/>
          </a:xfrm>
          <a:prstGeom prst="rect">
            <a:avLst/>
          </a:prstGeom>
          <a:noFill/>
          <a:ln/>
        </p:spPr>
        <p:txBody>
          <a:bodyPr wrap="square" lIns="0" tIns="0" rIns="0" bIns="0" rtlCol="0" anchor="t"/>
          <a:lstStyle/>
          <a:p>
            <a:pPr indent="0" marL="0">
              <a:buNone/>
            </a:pPr>
            <a:r>
              <a:rPr lang="en-US" sz="1200" b="1" dirty="0">
                <a:solidFill>
                  <a:srgbClr val="1F2937"/>
                </a:solidFill>
                <a:latin typeface="Calibri" pitchFamily="34" charset="0"/>
                <a:ea typeface="Calibri" pitchFamily="34" charset="-122"/>
                <a:cs typeface="Calibri" pitchFamily="34" charset="-120"/>
              </a:rPr>
              <a:t>Out of scope: leaf-disease photo ID · live mandi prices · live weather / IoT · saved plans · PDF reports · Urdu voice · native app · admin panel. Each needs a trained model, a paid server or a second codebase.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4532D"/>
          </a:solidFill>
          <a:ln w="12700">
            <a:solidFill>
              <a:srgbClr val="14532D"/>
            </a:solidFill>
            <a:prstDash val="solid"/>
          </a:ln>
        </p:spPr>
      </p:sp>
      <p:sp>
        <p:nvSpPr>
          <p:cNvPr id="3" name="Text 1"/>
          <p:cNvSpPr txBox="1"/>
          <p:nvPr/>
        </p:nvSpPr>
        <p:spPr>
          <a:xfrm>
            <a:off x="457200" y="0"/>
            <a:ext cx="8229600" cy="77724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Close: production impact, and the honest blocker</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560320"/>
                <a:gridCol w="2011680"/>
                <a:gridCol w="365760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Would scale because</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Would need</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Honest blocker</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532D"/>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30 districts → all Punjab and Sindh; district table is data, not code</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 real data refresh job, not bundled JSON</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Staleness. Urea Rs ~1,806 (2021) → ~4,552 (2024) → ~4,448 (2025); DAP ~5,959 → ~13,045 (PACRA, Feb 2026)</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 crops → every crop with a sourced cost and yield row</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 server instead of localhost, and HTTPS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Distribution. 96% of Punjab households have internet, but only 9–11% of towers are fibre; rural use 3.7–7.8% in some districts</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2E6"/>
                    </a:solidFill>
                  </a:tcPr>
                </a:tc>
              </a:tr>
              <a:tr h="0">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 laptop → district agri office, extension kiosk, fertiliser dealer</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 named institution to own each figure</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Offline-first becomes the deployment strategy — at the lab that issues the report</a:t>
                      </a:r>
                      <a:endParaRPr lang="en-US" sz="1000" dirty="0">
                        <a:latin typeface="Calibri" charset="0"/>
                        <a:ea typeface="Calibri" charset="0"/>
                        <a:cs typeface="Calibri"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4297680"/>
            <a:ext cx="8229600" cy="548640"/>
          </a:xfrm>
          <a:prstGeom prst="rect">
            <a:avLst/>
          </a:prstGeom>
          <a:noFill/>
          <a:ln/>
        </p:spPr>
        <p:txBody>
          <a:bodyPr wrap="square" lIns="0" tIns="0" rIns="0" bIns="0" rtlCol="0" anchor="ctr"/>
          <a:lstStyle/>
          <a:p>
            <a:pPr indent="0" marL="0">
              <a:buNone/>
            </a:pPr>
            <a:r>
              <a:rPr lang="en-US" sz="1400" b="1" dirty="0">
                <a:solidFill>
                  <a:srgbClr val="14532D"/>
                </a:solidFill>
                <a:latin typeface="Calibri" pitchFamily="34" charset="0"/>
                <a:ea typeface="Calibri" pitchFamily="34" charset="-122"/>
                <a:cs typeface="Calibri" pitchFamily="34" charset="-120"/>
              </a:rPr>
              <a:t>The code is the easy part. The question is who refreshes the data. 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AgriPulse Analytics</dc:title>
  <dc:subject>PptxGenJS Presentation</dc:subject>
  <dc:creator>Abdullah Munir, Muhammad Hamza</dc:creator>
  <cp:lastModifiedBy>Abdullah Munir, Muhammad Hamza</cp:lastModifiedBy>
  <cp:revision>1</cp:revision>
  <dcterms:created xsi:type="dcterms:W3CDTF">2026-10-07T12:50:02Z</dcterms:created>
  <dcterms:modified xsi:type="dcterms:W3CDTF">2026-10-07T12:50:02Z</dcterms:modified>
</cp:coreProperties>
</file>