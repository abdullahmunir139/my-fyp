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9144000" cy="5143500"/>
  <p:notesSz cx="51435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3371280D-0C23-4291-ADEF-3F735DC46F15}"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PlaceHolder 1"/>
          <p:cNvSpPr>
            <a:spLocks noGrp="1"/>
          </p:cNvSpPr>
          <p:nvPr>
            <p:ph type="sldImg"/>
          </p:nvPr>
        </p:nvSpPr>
        <p:spPr>
          <a:xfrm>
            <a:off x="685800" y="1143000"/>
            <a:ext cx="5486040" cy="3085920"/>
          </a:xfrm>
          <a:prstGeom prst="rect">
            <a:avLst/>
          </a:prstGeom>
          <a:ln w="0">
            <a:noFill/>
          </a:ln>
        </p:spPr>
      </p:sp>
      <p:sp>
        <p:nvSpPr>
          <p:cNvPr id="7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AgriPulse. A web application that turns one soil test report into a complete sowing decision, on one laptop, with no internet connection.</a:t>
            </a:r>
            <a:endParaRPr b="0" lang="en-US" sz="2000" spc="-1" strike="noStrike">
              <a:solidFill>
                <a:srgbClr val="000000"/>
              </a:solidFill>
              <a:latin typeface="Arial"/>
            </a:endParaRPr>
          </a:p>
        </p:txBody>
      </p:sp>
      <p:sp>
        <p:nvSpPr>
          <p:cNvPr id="71"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1B810C6-8D08-4EE0-881F-36D701B6094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type="sldImg"/>
          </p:nvPr>
        </p:nvSpPr>
        <p:spPr>
          <a:xfrm>
            <a:off x="685800" y="1143000"/>
            <a:ext cx="5486040" cy="3085920"/>
          </a:xfrm>
          <a:prstGeom prst="rect">
            <a:avLst/>
          </a:prstGeom>
          <a:ln w="0">
            <a:noFill/>
          </a:ln>
        </p:spPr>
      </p:sp>
      <p:sp>
        <p:nvSpPr>
          <p:cNvPr id="7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A farmer in Faisalabad has six acres of loam soil. In October he must make one decision he cannot take back until harvest: what to sow. He needs four numbers — what it costs, how much water it needs, exactly how many fertiliser bags to buy, and what he earns back. He has none of them. He already has his soil test report from the district laboratory, and nothing in Pakistan turns that report into those four numbers. We built the thing that does.</a:t>
            </a:r>
            <a:endParaRPr b="0" lang="en-US" sz="2000" spc="-1" strike="noStrike">
              <a:solidFill>
                <a:srgbClr val="000000"/>
              </a:solidFill>
              <a:latin typeface="Arial"/>
            </a:endParaRPr>
          </a:p>
        </p:txBody>
      </p:sp>
      <p:sp>
        <p:nvSpPr>
          <p:cNvPr id="74"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CA3FF58-5DFA-4648-8252-8945739F8C4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sldImg"/>
          </p:nvPr>
        </p:nvSpPr>
        <p:spPr>
          <a:xfrm>
            <a:off x="685800" y="1143000"/>
            <a:ext cx="5486040" cy="3085920"/>
          </a:xfrm>
          <a:prstGeom prst="rect">
            <a:avLst/>
          </a:prstGeom>
          <a:ln w="0">
            <a:noFill/>
          </a:ln>
        </p:spPr>
      </p:sp>
      <p:sp>
        <p:nvSpPr>
          <p:cNvPr id="7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Three problems, all measured in rupees the farmer loses.</a:t>
            </a:r>
            <a:endParaRPr b="0" lang="en-US" sz="2000" spc="-1" strike="noStrike">
              <a:solidFill>
                <a:srgbClr val="000000"/>
              </a:solidFill>
              <a:latin typeface="Arial"/>
            </a:endParaRPr>
          </a:p>
        </p:txBody>
      </p:sp>
      <p:sp>
        <p:nvSpPr>
          <p:cNvPr id="77"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867A0658-8515-477E-8E93-2050E82F08A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sldImg"/>
          </p:nvPr>
        </p:nvSpPr>
        <p:spPr>
          <a:xfrm>
            <a:off x="685800" y="1143000"/>
            <a:ext cx="5486040" cy="3085920"/>
          </a:xfrm>
          <a:prstGeom prst="rect">
            <a:avLst/>
          </a:prstGeom>
          <a:ln w="0">
            <a:noFill/>
          </a:ln>
        </p:spPr>
      </p:sp>
      <p:sp>
        <p:nvSpPr>
          <p:cNvPr id="7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Three problems, all three addressed. The third one is why this runs offline. Read the bottom line aloud — that is the thesis of the project.</a:t>
            </a:r>
            <a:endParaRPr b="0" lang="en-US" sz="2000" spc="-1" strike="noStrike">
              <a:solidFill>
                <a:srgbClr val="000000"/>
              </a:solidFill>
              <a:latin typeface="Arial"/>
            </a:endParaRPr>
          </a:p>
        </p:txBody>
      </p:sp>
      <p:sp>
        <p:nvSpPr>
          <p:cNvPr id="80"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9B90C0B-9F29-4577-AD51-C7B698A1411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sldImg"/>
          </p:nvPr>
        </p:nvSpPr>
        <p:spPr>
          <a:xfrm>
            <a:off x="685800" y="1143000"/>
            <a:ext cx="5486040" cy="3085920"/>
          </a:xfrm>
          <a:prstGeom prst="rect">
            <a:avLst/>
          </a:prstGeom>
          <a:ln w="0">
            <a:noFill/>
          </a:ln>
        </p:spPr>
      </p:sp>
      <p:sp>
        <p:nvSpPr>
          <p:cNvPr id="8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Five Pakistani tools, thirteen in total; two matter. MandiOye is genuinely close — 25 free calculators — but its fertiliser calculator asks you for the nutrient requirement, the number you went to the lab to get. Ours needs only the soil reading, because Punjab already published the bands in SFRI Guide-V. Bakhabar Kissan: 12M farmers advised, ~216k app users — 1.8% (GSMA, Mar 2025). India's national platform converts at 0.07%. App-based advisory does not convert in this market.</a:t>
            </a:r>
            <a:endParaRPr b="0" lang="en-US" sz="2000" spc="-1" strike="noStrike">
              <a:solidFill>
                <a:srgbClr val="000000"/>
              </a:solidFill>
              <a:latin typeface="Arial"/>
            </a:endParaRPr>
          </a:p>
        </p:txBody>
      </p:sp>
      <p:sp>
        <p:nvSpPr>
          <p:cNvPr id="83"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52CB352-C694-4DB1-85C9-8CA51A19BA1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sldImg"/>
          </p:nvPr>
        </p:nvSpPr>
        <p:spPr>
          <a:xfrm>
            <a:off x="685800" y="1143000"/>
            <a:ext cx="5486040" cy="3085920"/>
          </a:xfrm>
          <a:prstGeom prst="rect">
            <a:avLst/>
          </a:prstGeom>
          <a:ln w="0">
            <a:noFill/>
          </a:ln>
        </p:spPr>
      </p:sp>
      <p:sp>
        <p:nvSpPr>
          <p:cNvPr id="8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Five Pakistani tools, thirteen in total; two matter. MandiOye is genuinely close — 25 free calculators — but its fertiliser calculator asks you for the nutrient requirement, the number you went to the lab to get. Ours needs only the soil reading, because Punjab already published the bands in SFRI Guide-V. Bakhabar Kissan: 12M farmers advised, ~216k app users — 1.8% (GSMA, Mar 2025). India's national platform converts at 0.07%. App-based advisory does not convert in this market.</a:t>
            </a:r>
            <a:endParaRPr b="0" lang="en-US" sz="2000" spc="-1" strike="noStrike">
              <a:solidFill>
                <a:srgbClr val="000000"/>
              </a:solidFill>
              <a:latin typeface="Arial"/>
            </a:endParaRPr>
          </a:p>
        </p:txBody>
      </p:sp>
      <p:sp>
        <p:nvSpPr>
          <p:cNvPr id="86"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1D7CB73-A471-4D58-876D-FE119F99C28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sldImg"/>
          </p:nvPr>
        </p:nvSpPr>
        <p:spPr>
          <a:xfrm>
            <a:off x="685800" y="1143000"/>
            <a:ext cx="5486040" cy="3085920"/>
          </a:xfrm>
          <a:prstGeom prst="rect">
            <a:avLst/>
          </a:prstGeom>
          <a:ln w="0">
            <a:noFill/>
          </a:ln>
        </p:spPr>
      </p:sp>
      <p:sp>
        <p:nvSpPr>
          <p:cNvPr id="8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Read the arrow at the bottom. It is the whole project: the farmer's numbers go in, published formulas run, results come out with a citation. The middle layer is four pure functions — same input, same output, no database, no clock — which makes them unit-testable. And notice what is not there: no machine-learning model anywhere in the repository.</a:t>
            </a:r>
            <a:endParaRPr b="0" lang="en-US" sz="2000" spc="-1" strike="noStrike">
              <a:solidFill>
                <a:srgbClr val="000000"/>
              </a:solidFill>
              <a:latin typeface="Arial"/>
            </a:endParaRPr>
          </a:p>
        </p:txBody>
      </p:sp>
      <p:sp>
        <p:nvSpPr>
          <p:cNvPr id="89"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EEFFE08-C4C0-42C6-81E7-5ADF6528A7B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sldImg"/>
          </p:nvPr>
        </p:nvSpPr>
        <p:spPr>
          <a:xfrm>
            <a:off x="685800" y="1143000"/>
            <a:ext cx="5486040" cy="3085920"/>
          </a:xfrm>
          <a:prstGeom prst="rect">
            <a:avLst/>
          </a:prstGeom>
          <a:ln w="0">
            <a:noFill/>
          </a:ln>
        </p:spPr>
      </p:sp>
      <p:sp>
        <p:nvSpPr>
          <p:cNvPr id="9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The gap between the ring and the filled target area is the deficiency — the farmer sees it instead of reading it. And notice potassium: high, reduce dose. A system that can tell a farmer not to buy something is not selling him anything.</a:t>
            </a:r>
            <a:endParaRPr b="0" lang="en-US" sz="2000" spc="-1" strike="noStrike">
              <a:solidFill>
                <a:srgbClr val="000000"/>
              </a:solidFill>
              <a:latin typeface="Arial"/>
            </a:endParaRPr>
          </a:p>
        </p:txBody>
      </p:sp>
      <p:sp>
        <p:nvSpPr>
          <p:cNvPr id="92"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94B68A5-4749-4F17-89EE-2CFA261225F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sldImg"/>
          </p:nvPr>
        </p:nvSpPr>
        <p:spPr>
          <a:xfrm>
            <a:off x="685800" y="1143000"/>
            <a:ext cx="5486040" cy="3085920"/>
          </a:xfrm>
          <a:prstGeom prst="rect">
            <a:avLst/>
          </a:prstGeom>
          <a:ln w="0">
            <a:noFill/>
          </a:ln>
        </p:spPr>
      </p:sp>
      <p:sp>
        <p:nvSpPr>
          <p:cNvPr id="9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Every figure is either a published figure or a calculation from a published method on a published figure. There is no third category. A crop appears in the dropdown only if its cost and yield have a named public source; otherwise it is shown as unavailable, not guessed.</a:t>
            </a:r>
            <a:endParaRPr b="0" lang="en-US" sz="2000" spc="-1" strike="noStrike">
              <a:solidFill>
                <a:srgbClr val="000000"/>
              </a:solidFill>
              <a:latin typeface="Arial"/>
            </a:endParaRPr>
          </a:p>
        </p:txBody>
      </p:sp>
      <p:sp>
        <p:nvSpPr>
          <p:cNvPr id="95"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B5A9B5AE-F175-40B0-9FD1-01C85FE4F0B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sldImg"/>
          </p:nvPr>
        </p:nvSpPr>
        <p:spPr>
          <a:xfrm>
            <a:off x="685800" y="1143000"/>
            <a:ext cx="5486040" cy="3085920"/>
          </a:xfrm>
          <a:prstGeom prst="rect">
            <a:avLst/>
          </a:prstGeom>
          <a:ln w="0">
            <a:noFill/>
          </a:ln>
        </p:spPr>
      </p:sp>
      <p:sp>
        <p:nvSpPr>
          <p:cNvPr id="9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The agronomic formulas are published and fixed, so they are not the work. The computer science is turning four published methods into a correct, validated, fully local service: four pure functions, a token-authenticated API where no user can read another's data, validation at every boundary, and a test suite that proves the arithmetic against an official figure. All nineteen tools are free and open source.</a:t>
            </a:r>
            <a:endParaRPr b="0" lang="en-US" sz="2000" spc="-1" strike="noStrike">
              <a:solidFill>
                <a:srgbClr val="000000"/>
              </a:solidFill>
              <a:latin typeface="Arial"/>
            </a:endParaRPr>
          </a:p>
        </p:txBody>
      </p:sp>
      <p:sp>
        <p:nvSpPr>
          <p:cNvPr id="98"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BC4024A-9D3C-4E1C-96BD-DF095284A02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sldImg"/>
          </p:nvPr>
        </p:nvSpPr>
        <p:spPr>
          <a:xfrm>
            <a:off x="685800" y="1143000"/>
            <a:ext cx="5486040" cy="3085920"/>
          </a:xfrm>
          <a:prstGeom prst="rect">
            <a:avLst/>
          </a:prstGeom>
          <a:ln w="0">
            <a:noFill/>
          </a:ln>
        </p:spPr>
      </p:sp>
      <p:sp>
        <p:nvSpPr>
          <p:cNvPr id="10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A prototype explores whether an idea is interesting. I had a specific technical question and built a test to answer it. If week five passes, the architecture, services, data model and tests all survive into production. Contribution: software that is correct, safe, local, transparent and honest about its limits. Read the out-of-scope list aloud.</a:t>
            </a:r>
            <a:endParaRPr b="0" lang="en-US" sz="2000" spc="-1" strike="noStrike">
              <a:solidFill>
                <a:srgbClr val="000000"/>
              </a:solidFill>
              <a:latin typeface="Arial"/>
            </a:endParaRPr>
          </a:p>
        </p:txBody>
      </p:sp>
      <p:sp>
        <p:nvSpPr>
          <p:cNvPr id="101"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8B43C4C-7674-4B5F-BE8B-B8E505F2D23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sldImg"/>
          </p:nvPr>
        </p:nvSpPr>
        <p:spPr>
          <a:xfrm>
            <a:off x="685800" y="1143000"/>
            <a:ext cx="5486040" cy="3085920"/>
          </a:xfrm>
          <a:prstGeom prst="rect">
            <a:avLst/>
          </a:prstGeom>
          <a:ln w="0">
            <a:noFill/>
          </a:ln>
        </p:spPr>
      </p:sp>
      <p:sp>
        <p:nvSpPr>
          <p:cNvPr id="10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At production scale the value is real. But the blocker is not the software — it is data freshness. Urea moved from ~1,800 to ~4,500 rupees a bag in four years; a bundled price file is wrong within months. The real question is who refreshes the data, from which named publication, and how the farmer knows what day it was refreshed. Our answer: the citation must be on screen with a date — which is why it already is. Thank you.</a:t>
            </a:r>
            <a:endParaRPr b="0" lang="en-US" sz="2000" spc="-1" strike="noStrike">
              <a:solidFill>
                <a:srgbClr val="000000"/>
              </a:solidFill>
              <a:latin typeface="Arial"/>
            </a:endParaRPr>
          </a:p>
        </p:txBody>
      </p:sp>
      <p:sp>
        <p:nvSpPr>
          <p:cNvPr id="104" name="PlaceHolder 3"/>
          <p:cNvSpPr>
            <a:spLocks noGrp="1"/>
          </p:cNvSpPr>
          <p:nvPr>
            <p:ph type="sldNum" idx="1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BA2967E-75A3-4A82-B2AD-5FD4ACCC283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fontScale="95303"/>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532d"/>
        </a:solidFill>
      </p:bgPr>
    </p:bg>
    <p:spTree>
      <p:nvGrpSpPr>
        <p:cNvPr id="1" name=""/>
        <p:cNvGrpSpPr/>
        <p:nvPr/>
      </p:nvGrpSpPr>
      <p:grpSpPr>
        <a:xfrm>
          <a:off x="0" y="0"/>
          <a:ext cx="0" cy="0"/>
          <a:chOff x="0" y="0"/>
          <a:chExt cx="0" cy="0"/>
        </a:xfrm>
      </p:grpSpPr>
      <p:sp>
        <p:nvSpPr>
          <p:cNvPr id="10" name="Text 0"/>
          <p:cNvSpPr/>
          <p:nvPr/>
        </p:nvSpPr>
        <p:spPr>
          <a:xfrm>
            <a:off x="548640" y="822960"/>
            <a:ext cx="8046360" cy="914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4400" spc="-1" strike="noStrike">
                <a:solidFill>
                  <a:srgbClr val="ffffff"/>
                </a:solidFill>
                <a:latin typeface="Calibri"/>
                <a:ea typeface="Calibri"/>
              </a:rPr>
              <a:t>AgriPulse Analytics</a:t>
            </a:r>
            <a:endParaRPr b="0" lang="en-US" sz="4400" spc="-1" strike="noStrike">
              <a:solidFill>
                <a:srgbClr val="ffffff"/>
              </a:solidFill>
              <a:latin typeface="Arial"/>
            </a:endParaRPr>
          </a:p>
        </p:txBody>
      </p:sp>
      <p:sp>
        <p:nvSpPr>
          <p:cNvPr id="11" name="Text 1"/>
          <p:cNvSpPr/>
          <p:nvPr/>
        </p:nvSpPr>
        <p:spPr>
          <a:xfrm>
            <a:off x="548640" y="1737360"/>
            <a:ext cx="804636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2200" spc="-1" strike="noStrike">
                <a:solidFill>
                  <a:srgbClr val="f59e0b"/>
                </a:solidFill>
                <a:latin typeface="Calibri"/>
                <a:ea typeface="Calibri"/>
              </a:rPr>
              <a:t>A Soil-Test Driven Farm &amp; Financial Decision Engine</a:t>
            </a:r>
            <a:endParaRPr b="0" lang="en-US" sz="2200" spc="-1" strike="noStrike">
              <a:solidFill>
                <a:srgbClr val="ffffff"/>
              </a:solidFill>
              <a:latin typeface="Arial"/>
            </a:endParaRPr>
          </a:p>
        </p:txBody>
      </p:sp>
      <p:sp>
        <p:nvSpPr>
          <p:cNvPr id="12" name="Text 2"/>
          <p:cNvSpPr/>
          <p:nvPr/>
        </p:nvSpPr>
        <p:spPr>
          <a:xfrm>
            <a:off x="548640" y="2743200"/>
            <a:ext cx="8046360" cy="1462680"/>
          </a:xfrm>
          <a:prstGeom prst="rect">
            <a:avLst/>
          </a:prstGeom>
          <a:noFill/>
          <a:ln w="0">
            <a:noFill/>
          </a:ln>
        </p:spPr>
        <p:style>
          <a:lnRef idx="0"/>
          <a:fillRef idx="0"/>
          <a:effectRef idx="0"/>
          <a:fontRef idx="minor"/>
        </p:style>
        <p:txBody>
          <a:bodyPr lIns="0" rIns="0" tIns="0" bIns="0" anchor="ctr">
            <a:noAutofit/>
          </a:bodyPr>
          <a:p>
            <a:pPr defTabSz="914400">
              <a:lnSpc>
                <a:spcPct val="100000"/>
              </a:lnSpc>
              <a:spcAft>
                <a:spcPts val="300"/>
              </a:spcAft>
              <a:tabLst>
                <a:tab algn="l" pos="0"/>
              </a:tabLst>
            </a:pPr>
            <a:r>
              <a:rPr b="0" lang="en-US" sz="1500" spc="-1" strike="noStrike">
                <a:solidFill>
                  <a:srgbClr val="ffffff"/>
                </a:solidFill>
                <a:latin typeface="Calibri"/>
                <a:ea typeface="Calibri"/>
              </a:rPr>
              <a:t>Abdullah Munir · 2023-GCUF-074974</a:t>
            </a:r>
            <a:endParaRPr b="0" lang="en-US" sz="1500" spc="-1" strike="noStrike">
              <a:solidFill>
                <a:srgbClr val="ffffff"/>
              </a:solidFill>
              <a:latin typeface="Arial"/>
            </a:endParaRPr>
          </a:p>
          <a:p>
            <a:pPr defTabSz="914400">
              <a:lnSpc>
                <a:spcPct val="100000"/>
              </a:lnSpc>
              <a:spcAft>
                <a:spcPts val="300"/>
              </a:spcAft>
              <a:tabLst>
                <a:tab algn="l" pos="0"/>
              </a:tabLst>
            </a:pPr>
            <a:r>
              <a:rPr b="0" lang="en-US" sz="1500" spc="-1" strike="noStrike">
                <a:solidFill>
                  <a:srgbClr val="ffffff"/>
                </a:solidFill>
                <a:latin typeface="Calibri"/>
                <a:ea typeface="Calibri"/>
              </a:rPr>
              <a:t>Muhammad Hamza </a:t>
            </a:r>
            <a:r>
              <a:rPr b="0" lang="en-US" sz="1500" spc="-1" strike="noStrike">
                <a:solidFill>
                  <a:srgbClr val="ffffff"/>
                </a:solidFill>
                <a:latin typeface="Calibri"/>
                <a:ea typeface="Calibri"/>
              </a:rPr>
              <a:t>· 2023-GCUF-074992 </a:t>
            </a:r>
            <a:endParaRPr b="0" lang="en-US" sz="1500" spc="-1" strike="noStrike">
              <a:solidFill>
                <a:srgbClr val="ffffff"/>
              </a:solidFill>
              <a:latin typeface="Arial"/>
            </a:endParaRPr>
          </a:p>
          <a:p>
            <a:pPr defTabSz="914400">
              <a:lnSpc>
                <a:spcPct val="100000"/>
              </a:lnSpc>
              <a:spcAft>
                <a:spcPts val="300"/>
              </a:spcAft>
              <a:tabLst>
                <a:tab algn="l" pos="0"/>
              </a:tabLst>
            </a:pPr>
            <a:r>
              <a:rPr b="0" lang="en-US" sz="1500" spc="-1" strike="noStrike">
                <a:solidFill>
                  <a:srgbClr val="ffffff"/>
                </a:solidFill>
                <a:latin typeface="Calibri"/>
                <a:ea typeface="Calibri"/>
              </a:rPr>
              <a:t>Government Graduate College, Satiana Road, Faisalabad</a:t>
            </a:r>
            <a:endParaRPr b="0" lang="en-US" sz="1500" spc="-1" strike="noStrike">
              <a:solidFill>
                <a:srgbClr val="ffffff"/>
              </a:solidFill>
              <a:latin typeface="Arial"/>
            </a:endParaRPr>
          </a:p>
          <a:p>
            <a:pPr defTabSz="914400">
              <a:lnSpc>
                <a:spcPct val="100000"/>
              </a:lnSpc>
              <a:spcAft>
                <a:spcPts val="300"/>
              </a:spcAft>
              <a:tabLst>
                <a:tab algn="l" pos="0"/>
              </a:tabLst>
            </a:pPr>
            <a:r>
              <a:rPr b="0" lang="en-US" sz="1500" spc="-1" strike="noStrike">
                <a:solidFill>
                  <a:srgbClr val="ffffff"/>
                </a:solidFill>
                <a:latin typeface="Calibri"/>
                <a:ea typeface="Calibri"/>
              </a:rPr>
              <a:t>Department of Computer Science · GCUF</a:t>
            </a:r>
            <a:endParaRPr b="0" lang="en-US" sz="1500" spc="-1" strike="noStrike">
              <a:solidFill>
                <a:srgbClr val="ffffff"/>
              </a:solidFill>
              <a:latin typeface="Arial"/>
            </a:endParaRPr>
          </a:p>
          <a:p>
            <a:pPr defTabSz="914400">
              <a:lnSpc>
                <a:spcPct val="100000"/>
              </a:lnSpc>
              <a:spcAft>
                <a:spcPts val="300"/>
              </a:spcAft>
              <a:tabLst>
                <a:tab algn="l" pos="0"/>
              </a:tabLst>
            </a:pPr>
            <a:endParaRPr b="0" lang="en-US" sz="1500" spc="-1" strike="noStrike">
              <a:solidFill>
                <a:srgbClr val="ffffff"/>
              </a:solidFill>
              <a:latin typeface="Arial"/>
            </a:endParaRPr>
          </a:p>
        </p:txBody>
      </p:sp>
    </p:spTree>
  </p:cSld>
  <p:transition spd="slow">
    <p:fade thruBlk="true"/>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ee"/>
        </a:solidFill>
      </p:bgPr>
    </p:bg>
    <p:spTree>
      <p:nvGrpSpPr>
        <p:cNvPr id="1" name=""/>
        <p:cNvGrpSpPr/>
        <p:nvPr/>
      </p:nvGrpSpPr>
      <p:grpSpPr>
        <a:xfrm>
          <a:off x="0" y="0"/>
          <a:ext cx="0" cy="0"/>
          <a:chOff x="0" y="0"/>
          <a:chExt cx="0" cy="0"/>
        </a:xfrm>
      </p:grpSpPr>
      <p:sp>
        <p:nvSpPr>
          <p:cNvPr id="13" name="Shape 0"/>
          <p:cNvSpPr/>
          <p:nvPr/>
        </p:nvSpPr>
        <p:spPr>
          <a:xfrm>
            <a:off x="0" y="0"/>
            <a:ext cx="9143640" cy="776880"/>
          </a:xfrm>
          <a:prstGeom prst="rect">
            <a:avLst/>
          </a:prstGeom>
          <a:solidFill>
            <a:srgbClr val="14532d"/>
          </a:solidFill>
          <a:ln w="12600">
            <a:solidFill>
              <a:srgbClr val="14532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 name="Text 1"/>
          <p:cNvSpPr/>
          <p:nvPr/>
        </p:nvSpPr>
        <p:spPr>
          <a:xfrm>
            <a:off x="457200" y="0"/>
            <a:ext cx="822924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200" spc="-1" strike="noStrike">
                <a:solidFill>
                  <a:srgbClr val="ffffff"/>
                </a:solidFill>
                <a:latin typeface="Calibri"/>
                <a:ea typeface="Calibri"/>
              </a:rPr>
              <a:t>The 30-second story</a:t>
            </a:r>
            <a:endParaRPr b="0" lang="en-US" sz="2200" spc="-1" strike="noStrike">
              <a:solidFill>
                <a:srgbClr val="000000"/>
              </a:solidFill>
              <a:latin typeface="Arial"/>
            </a:endParaRPr>
          </a:p>
        </p:txBody>
      </p:sp>
      <p:sp>
        <p:nvSpPr>
          <p:cNvPr id="15" name="Text 2"/>
          <p:cNvSpPr/>
          <p:nvPr/>
        </p:nvSpPr>
        <p:spPr>
          <a:xfrm>
            <a:off x="731520" y="1188720"/>
            <a:ext cx="7680600" cy="1279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3000" spc="-1" strike="noStrike">
                <a:solidFill>
                  <a:srgbClr val="14532d"/>
                </a:solidFill>
                <a:latin typeface="Calibri"/>
                <a:ea typeface="Calibri"/>
              </a:rPr>
              <a:t>One farmer. Six acres of loam. One decision he cannot undo.</a:t>
            </a:r>
            <a:endParaRPr b="0" lang="en-US" sz="3000" spc="-1" strike="noStrike">
              <a:solidFill>
                <a:srgbClr val="000000"/>
              </a:solidFill>
              <a:latin typeface="Arial"/>
            </a:endParaRPr>
          </a:p>
        </p:txBody>
      </p:sp>
      <p:sp>
        <p:nvSpPr>
          <p:cNvPr id="16" name="Text 4"/>
          <p:cNvSpPr/>
          <p:nvPr/>
        </p:nvSpPr>
        <p:spPr>
          <a:xfrm>
            <a:off x="457200" y="3931920"/>
            <a:ext cx="822924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14532d"/>
                </a:solidFill>
                <a:latin typeface="Calibri"/>
                <a:ea typeface="Calibri"/>
              </a:rPr>
              <a:t>He already holds the soil test report. Nothing turns it into those numbers until now.</a:t>
            </a:r>
            <a:endParaRPr b="0" lang="en-US" sz="1300" spc="-1" strike="noStrike">
              <a:solidFill>
                <a:srgbClr val="000000"/>
              </a:solidFill>
              <a:latin typeface="Arial"/>
            </a:endParaRPr>
          </a:p>
        </p:txBody>
      </p:sp>
      <p:grpSp>
        <p:nvGrpSpPr>
          <p:cNvPr id="17" name=""/>
          <p:cNvGrpSpPr/>
          <p:nvPr/>
        </p:nvGrpSpPr>
        <p:grpSpPr>
          <a:xfrm>
            <a:off x="731520" y="2419200"/>
            <a:ext cx="7680600" cy="1388520"/>
            <a:chOff x="731520" y="2419200"/>
            <a:chExt cx="7680600" cy="1388520"/>
          </a:xfrm>
        </p:grpSpPr>
        <p:sp>
          <p:nvSpPr>
            <p:cNvPr id="18" name="Text 3"/>
            <p:cNvSpPr/>
            <p:nvPr/>
          </p:nvSpPr>
          <p:spPr>
            <a:xfrm>
              <a:off x="731520" y="2419200"/>
              <a:ext cx="7680600" cy="731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000" spc="-1" strike="noStrike">
                  <a:solidFill>
                    <a:srgbClr val="1f2937"/>
                  </a:solidFill>
                  <a:latin typeface="Calibri"/>
                  <a:ea typeface="Calibri"/>
                </a:rPr>
                <a:t>Four numbers he does not have</a:t>
              </a:r>
              <a:endParaRPr b="0" lang="en-US" sz="2000" spc="-1" strike="noStrike">
                <a:solidFill>
                  <a:srgbClr val="000000"/>
                </a:solidFill>
                <a:latin typeface="Arial"/>
              </a:endParaRPr>
            </a:p>
          </p:txBody>
        </p:sp>
        <p:sp>
          <p:nvSpPr>
            <p:cNvPr id="19" name=""/>
            <p:cNvSpPr txBox="1"/>
            <p:nvPr/>
          </p:nvSpPr>
          <p:spPr>
            <a:xfrm>
              <a:off x="1161000" y="3234240"/>
              <a:ext cx="6801480" cy="573480"/>
            </a:xfrm>
            <a:prstGeom prst="rect">
              <a:avLst/>
            </a:prstGeom>
            <a:noFill/>
            <a:ln w="0">
              <a:noFill/>
            </a:ln>
          </p:spPr>
          <p:txBody>
            <a:bodyPr lIns="90000" rIns="90000" tIns="45000" bIns="45000" anchor="t">
              <a:noAutofit/>
            </a:bodyPr>
            <a:p>
              <a:pPr algn="ctr"/>
              <a:r>
                <a:rPr b="1" lang="en-US" sz="2800" spc="-1" strike="noStrike">
                  <a:solidFill>
                    <a:srgbClr val="1f2937"/>
                  </a:solidFill>
                  <a:latin typeface="Calibri"/>
                  <a:ea typeface="Calibri"/>
                </a:rPr>
                <a:t>cost · water · fertiliser bags · return</a:t>
              </a:r>
              <a:endParaRPr b="0" lang="en-US" sz="2800" spc="-1" strike="noStrike">
                <a:solidFill>
                  <a:srgbClr val="000000"/>
                </a:solidFill>
                <a:latin typeface="Arial"/>
              </a:endParaRPr>
            </a:p>
          </p:txBody>
        </p:sp>
      </p:grpSp>
    </p:spTree>
  </p:cSld>
  <p:transition spd="slow">
    <p:fade thruBlk="true"/>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ee"/>
        </a:solidFill>
      </p:bgPr>
    </p:bg>
    <p:spTree>
      <p:nvGrpSpPr>
        <p:cNvPr id="1" name=""/>
        <p:cNvGrpSpPr/>
        <p:nvPr/>
      </p:nvGrpSpPr>
      <p:grpSpPr>
        <a:xfrm>
          <a:off x="0" y="0"/>
          <a:ext cx="0" cy="0"/>
          <a:chOff x="0" y="0"/>
          <a:chExt cx="0" cy="0"/>
        </a:xfrm>
      </p:grpSpPr>
      <p:sp>
        <p:nvSpPr>
          <p:cNvPr id="20" name="Shape 0"/>
          <p:cNvSpPr/>
          <p:nvPr/>
        </p:nvSpPr>
        <p:spPr>
          <a:xfrm>
            <a:off x="0" y="0"/>
            <a:ext cx="9143640" cy="776880"/>
          </a:xfrm>
          <a:prstGeom prst="rect">
            <a:avLst/>
          </a:prstGeom>
          <a:solidFill>
            <a:srgbClr val="14532d"/>
          </a:solidFill>
          <a:ln w="12600">
            <a:solidFill>
              <a:srgbClr val="14532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 name="Text 1"/>
          <p:cNvSpPr/>
          <p:nvPr/>
        </p:nvSpPr>
        <p:spPr>
          <a:xfrm>
            <a:off x="457200" y="0"/>
            <a:ext cx="822924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200" spc="-1" strike="noStrike">
                <a:solidFill>
                  <a:srgbClr val="ffffff"/>
                </a:solidFill>
                <a:latin typeface="Calibri"/>
                <a:ea typeface="Calibri"/>
              </a:rPr>
              <a:t>The decision that cannot be undone</a:t>
            </a:r>
            <a:endParaRPr b="0" lang="en-US" sz="2200" spc="-1" strike="noStrike">
              <a:solidFill>
                <a:srgbClr val="000000"/>
              </a:solidFill>
              <a:latin typeface="Arial"/>
            </a:endParaRPr>
          </a:p>
        </p:txBody>
      </p:sp>
      <p:graphicFrame>
        <p:nvGraphicFramePr>
          <p:cNvPr id="22" name="Table 0"/>
          <p:cNvGraphicFramePr/>
          <p:nvPr/>
        </p:nvGraphicFramePr>
        <p:xfrm>
          <a:off x="457200" y="1188720"/>
          <a:ext cx="8229240" cy="1469880"/>
        </p:xfrm>
        <a:graphic>
          <a:graphicData uri="http://schemas.openxmlformats.org/drawingml/2006/table">
            <a:tbl>
              <a:tblPr/>
              <a:tblGrid>
                <a:gridCol w="2743200"/>
                <a:gridCol w="2743200"/>
                <a:gridCol w="2743200"/>
              </a:tblGrid>
              <a:tr h="0">
                <a:tc>
                  <a:txBody>
                    <a:bodyPr lIns="45720" rIns="45720" anchor="ctr">
                      <a:noAutofit/>
                    </a:bodyPr>
                    <a:p>
                      <a:pPr defTabSz="914400">
                        <a:lnSpc>
                          <a:spcPct val="100000"/>
                        </a:lnSpc>
                        <a:tabLst>
                          <a:tab algn="l" pos="0"/>
                        </a:tabLst>
                      </a:pPr>
                      <a:r>
                        <a:rPr b="1" lang="en-US" sz="1600" spc="-1" strike="noStrike">
                          <a:solidFill>
                            <a:srgbClr val="ffffff"/>
                          </a:solidFill>
                          <a:latin typeface="Calibri"/>
                          <a:ea typeface="Calibri"/>
                        </a:rPr>
                        <a:t>Before sowing</a:t>
                      </a:r>
                      <a:endParaRPr b="0" lang="en-US" sz="1600" spc="-1" strike="noStrike">
                        <a:solidFill>
                          <a:srgbClr val="ffffff"/>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14532d"/>
                    </a:solidFill>
                  </a:tcPr>
                </a:tc>
                <a:tc>
                  <a:txBody>
                    <a:bodyPr lIns="45720" rIns="45720" anchor="ctr">
                      <a:noAutofit/>
                    </a:bodyPr>
                    <a:p>
                      <a:pPr defTabSz="914400">
                        <a:lnSpc>
                          <a:spcPct val="100000"/>
                        </a:lnSpc>
                        <a:tabLst>
                          <a:tab algn="l" pos="0"/>
                        </a:tabLst>
                      </a:pPr>
                      <a:r>
                        <a:rPr b="1" lang="en-US" sz="1600" spc="-1" strike="noStrike">
                          <a:solidFill>
                            <a:srgbClr val="ffffff"/>
                          </a:solidFill>
                          <a:latin typeface="Calibri"/>
                          <a:ea typeface="Calibri"/>
                        </a:rPr>
                        <a:t>During the season</a:t>
                      </a:r>
                      <a:endParaRPr b="0" lang="en-US" sz="1600" spc="-1" strike="noStrike">
                        <a:solidFill>
                          <a:srgbClr val="ffffff"/>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14532d"/>
                    </a:solidFill>
                  </a:tcPr>
                </a:tc>
                <a:tc>
                  <a:txBody>
                    <a:bodyPr lIns="45720" rIns="45720" anchor="ctr">
                      <a:noAutofit/>
                    </a:bodyPr>
                    <a:p>
                      <a:pPr defTabSz="914400">
                        <a:lnSpc>
                          <a:spcPct val="100000"/>
                        </a:lnSpc>
                        <a:tabLst>
                          <a:tab algn="l" pos="0"/>
                        </a:tabLst>
                      </a:pPr>
                      <a:r>
                        <a:rPr b="1" lang="en-US" sz="1600" spc="-1" strike="noStrike">
                          <a:solidFill>
                            <a:srgbClr val="ffffff"/>
                          </a:solidFill>
                          <a:latin typeface="Calibri"/>
                          <a:ea typeface="Calibri"/>
                        </a:rPr>
                        <a:t>At harvest</a:t>
                      </a:r>
                      <a:endParaRPr b="0" lang="en-US" sz="1600" spc="-1" strike="noStrike">
                        <a:solidFill>
                          <a:srgbClr val="ffffff"/>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14532d"/>
                    </a:solidFill>
                  </a:tcPr>
                </a:tc>
              </a:tr>
              <a:tr h="0">
                <a:tc>
                  <a:txBody>
                    <a:bodyPr lIns="45720" rIns="45720" anchor="ctr">
                      <a:noAutofit/>
                    </a:bodyPr>
                    <a:p>
                      <a:pPr defTabSz="914400">
                        <a:lnSpc>
                          <a:spcPct val="100000"/>
                        </a:lnSpc>
                        <a:tabLst>
                          <a:tab algn="l" pos="0"/>
                        </a:tabLst>
                      </a:pPr>
                      <a:r>
                        <a:rPr b="0" lang="en-US" sz="1600" spc="-1" strike="noStrike">
                          <a:solidFill>
                            <a:srgbClr val="1f2937"/>
                          </a:solidFill>
                          <a:latin typeface="Calibri"/>
                          <a:ea typeface="Calibri"/>
                        </a:rPr>
                        <a:t>Money is spent</a:t>
                      </a:r>
                      <a:endParaRPr b="0" lang="en-US" sz="16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ffffff"/>
                    </a:solidFill>
                  </a:tcPr>
                </a:tc>
                <a:tc>
                  <a:txBody>
                    <a:bodyPr lIns="45720" rIns="45720" anchor="ctr">
                      <a:noAutofit/>
                    </a:bodyPr>
                    <a:p>
                      <a:pPr defTabSz="914400">
                        <a:lnSpc>
                          <a:spcPct val="100000"/>
                        </a:lnSpc>
                        <a:tabLst>
                          <a:tab algn="l" pos="0"/>
                        </a:tabLst>
                      </a:pPr>
                      <a:r>
                        <a:rPr b="0" lang="en-US" sz="1600" spc="-1" strike="noStrike">
                          <a:solidFill>
                            <a:srgbClr val="1f2937"/>
                          </a:solidFill>
                          <a:latin typeface="Calibri"/>
                          <a:ea typeface="Calibri"/>
                        </a:rPr>
                        <a:t>Water is used</a:t>
                      </a:r>
                      <a:endParaRPr b="0" lang="en-US" sz="16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ffffff"/>
                    </a:solidFill>
                  </a:tcPr>
                </a:tc>
                <a:tc>
                  <a:txBody>
                    <a:bodyPr lIns="45720" rIns="45720" anchor="ctr">
                      <a:noAutofit/>
                    </a:bodyPr>
                    <a:p>
                      <a:pPr defTabSz="914400">
                        <a:lnSpc>
                          <a:spcPct val="100000"/>
                        </a:lnSpc>
                        <a:tabLst>
                          <a:tab algn="l" pos="0"/>
                        </a:tabLst>
                      </a:pPr>
                      <a:r>
                        <a:rPr b="0" lang="en-US" sz="1600" spc="-1" strike="noStrike">
                          <a:solidFill>
                            <a:srgbClr val="1f2937"/>
                          </a:solidFill>
                          <a:latin typeface="Calibri"/>
                          <a:ea typeface="Calibri"/>
                        </a:rPr>
                        <a:t>Yield arrives</a:t>
                      </a:r>
                      <a:endParaRPr b="0" lang="en-US" sz="16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ffffff"/>
                    </a:solidFill>
                  </a:tcPr>
                </a:tc>
              </a:tr>
              <a:tr h="0">
                <a:tc>
                  <a:txBody>
                    <a:bodyPr lIns="45720" rIns="45720" anchor="ctr">
                      <a:noAutofit/>
                    </a:bodyPr>
                    <a:p>
                      <a:pPr defTabSz="914400">
                        <a:lnSpc>
                          <a:spcPct val="100000"/>
                        </a:lnSpc>
                        <a:tabLst>
                          <a:tab algn="l" pos="0"/>
                        </a:tabLst>
                      </a:pPr>
                      <a:r>
                        <a:rPr b="0" lang="en-US" sz="1600" spc="-1" strike="noStrike">
                          <a:solidFill>
                            <a:srgbClr val="1f2937"/>
                          </a:solidFill>
                          <a:latin typeface="Calibri"/>
                          <a:ea typeface="Calibri"/>
                        </a:rPr>
                        <a:t>Seed goes in</a:t>
                      </a:r>
                      <a:endParaRPr b="0" lang="en-US" sz="16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eef2e6"/>
                    </a:solidFill>
                  </a:tcPr>
                </a:tc>
                <a:tc>
                  <a:txBody>
                    <a:bodyPr lIns="45720" rIns="45720" anchor="ctr">
                      <a:noAutofit/>
                    </a:bodyPr>
                    <a:p>
                      <a:pPr defTabSz="914400">
                        <a:lnSpc>
                          <a:spcPct val="100000"/>
                        </a:lnSpc>
                        <a:tabLst>
                          <a:tab algn="l" pos="0"/>
                        </a:tabLst>
                      </a:pPr>
                      <a:r>
                        <a:rPr b="0" lang="en-US" sz="1600" spc="-1" strike="noStrike">
                          <a:solidFill>
                            <a:srgbClr val="1f2937"/>
                          </a:solidFill>
                          <a:latin typeface="Calibri"/>
                          <a:ea typeface="Calibri"/>
                        </a:rPr>
                        <a:t>Fertiliser is applied</a:t>
                      </a:r>
                      <a:endParaRPr b="0" lang="en-US" sz="16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eef2e6"/>
                    </a:solidFill>
                  </a:tcPr>
                </a:tc>
                <a:tc>
                  <a:txBody>
                    <a:bodyPr lIns="45720" rIns="45720" anchor="ctr">
                      <a:noAutofit/>
                    </a:bodyPr>
                    <a:p>
                      <a:pPr defTabSz="914400">
                        <a:lnSpc>
                          <a:spcPct val="100000"/>
                        </a:lnSpc>
                        <a:tabLst>
                          <a:tab algn="l" pos="0"/>
                        </a:tabLst>
                      </a:pPr>
                      <a:r>
                        <a:rPr b="0" lang="en-US" sz="1600" spc="-1" strike="noStrike">
                          <a:solidFill>
                            <a:srgbClr val="1f2937"/>
                          </a:solidFill>
                          <a:latin typeface="Calibri"/>
                          <a:ea typeface="Calibri"/>
                        </a:rPr>
                        <a:t>Cost is finally known</a:t>
                      </a:r>
                      <a:endParaRPr b="0" lang="en-US" sz="16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eef2e6"/>
                    </a:solidFill>
                  </a:tcPr>
                </a:tc>
              </a:tr>
              <a:tr h="0">
                <a:tc>
                  <a:txBody>
                    <a:bodyPr lIns="45720" rIns="45720" anchor="ctr">
                      <a:noAutofit/>
                    </a:bodyPr>
                    <a:p>
                      <a:pPr defTabSz="914400">
                        <a:lnSpc>
                          <a:spcPct val="100000"/>
                        </a:lnSpc>
                        <a:tabLst>
                          <a:tab algn="l" pos="0"/>
                        </a:tabLst>
                      </a:pPr>
                      <a:r>
                        <a:rPr b="0" lang="en-US" sz="1600" spc="-1" strike="noStrike">
                          <a:solidFill>
                            <a:srgbClr val="1f2937"/>
                          </a:solidFill>
                          <a:latin typeface="Calibri"/>
                          <a:ea typeface="Calibri"/>
                        </a:rPr>
                        <a:t>The choice is locked</a:t>
                      </a:r>
                      <a:endParaRPr b="0" lang="en-US" sz="16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ffffff"/>
                    </a:solidFill>
                  </a:tcPr>
                </a:tc>
                <a:tc>
                  <a:txBody>
                    <a:bodyPr lIns="45720" rIns="45720" anchor="ctr">
                      <a:noAutofit/>
                    </a:bodyPr>
                    <a:p>
                      <a:pPr defTabSz="914400">
                        <a:lnSpc>
                          <a:spcPct val="100000"/>
                        </a:lnSpc>
                        <a:tabLst>
                          <a:tab algn="l" pos="0"/>
                        </a:tabLst>
                      </a:pPr>
                      <a:r>
                        <a:rPr b="0" lang="en-US" sz="1600" spc="-1" strike="noStrike">
                          <a:solidFill>
                            <a:srgbClr val="1f2937"/>
                          </a:solidFill>
                          <a:latin typeface="Calibri"/>
                          <a:ea typeface="Calibri"/>
                        </a:rPr>
                        <a:t>The dose is locked</a:t>
                      </a:r>
                      <a:endParaRPr b="0" lang="en-US" sz="16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ffffff"/>
                    </a:solidFill>
                  </a:tcPr>
                </a:tc>
                <a:tc>
                  <a:txBody>
                    <a:bodyPr lIns="45720" rIns="45720" anchor="ctr">
                      <a:noAutofit/>
                    </a:bodyPr>
                    <a:p>
                      <a:pPr defTabSz="914400">
                        <a:lnSpc>
                          <a:spcPct val="100000"/>
                        </a:lnSpc>
                        <a:tabLst>
                          <a:tab algn="l" pos="0"/>
                        </a:tabLst>
                      </a:pPr>
                      <a:r>
                        <a:rPr b="0" lang="en-US" sz="1600" spc="-1" strike="noStrike">
                          <a:solidFill>
                            <a:srgbClr val="1f2937"/>
                          </a:solidFill>
                          <a:latin typeface="Calibri"/>
                          <a:ea typeface="Calibri"/>
                        </a:rPr>
                        <a:t>Too late to change</a:t>
                      </a:r>
                      <a:endParaRPr b="0" lang="en-US" sz="16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ffffff"/>
                    </a:solidFill>
                  </a:tcPr>
                </a:tc>
              </a:tr>
            </a:tbl>
          </a:graphicData>
        </a:graphic>
      </p:graphicFrame>
      <p:sp>
        <p:nvSpPr>
          <p:cNvPr id="23" name="Text 2"/>
          <p:cNvSpPr/>
          <p:nvPr/>
        </p:nvSpPr>
        <p:spPr>
          <a:xfrm>
            <a:off x="457200" y="3840480"/>
            <a:ext cx="822924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14532d"/>
                </a:solidFill>
                <a:latin typeface="Calibri"/>
                <a:ea typeface="Calibri"/>
              </a:rPr>
              <a:t>Three problems, all measured in rupees the farmer loses.</a:t>
            </a:r>
            <a:endParaRPr b="0" lang="en-US" sz="1300" spc="-1" strike="noStrike">
              <a:solidFill>
                <a:srgbClr val="000000"/>
              </a:solidFill>
              <a:latin typeface="Arial"/>
            </a:endParaRPr>
          </a:p>
        </p:txBody>
      </p:sp>
    </p:spTree>
  </p:cSld>
  <p:transition spd="slow">
    <p:fade thruBlk="true"/>
  </p:transition>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ee"/>
        </a:solidFill>
      </p:bgPr>
    </p:bg>
    <p:spTree>
      <p:nvGrpSpPr>
        <p:cNvPr id="1" name=""/>
        <p:cNvGrpSpPr/>
        <p:nvPr/>
      </p:nvGrpSpPr>
      <p:grpSpPr>
        <a:xfrm>
          <a:off x="0" y="0"/>
          <a:ext cx="0" cy="0"/>
          <a:chOff x="0" y="0"/>
          <a:chExt cx="0" cy="0"/>
        </a:xfrm>
      </p:grpSpPr>
      <p:sp>
        <p:nvSpPr>
          <p:cNvPr id="24" name="Shape 0"/>
          <p:cNvSpPr/>
          <p:nvPr/>
        </p:nvSpPr>
        <p:spPr>
          <a:xfrm>
            <a:off x="0" y="0"/>
            <a:ext cx="9143640" cy="776880"/>
          </a:xfrm>
          <a:prstGeom prst="rect">
            <a:avLst/>
          </a:prstGeom>
          <a:solidFill>
            <a:srgbClr val="14532d"/>
          </a:solidFill>
          <a:ln w="12600">
            <a:solidFill>
              <a:srgbClr val="14532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 name="Text 1"/>
          <p:cNvSpPr/>
          <p:nvPr/>
        </p:nvSpPr>
        <p:spPr>
          <a:xfrm>
            <a:off x="457200" y="0"/>
            <a:ext cx="822924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200" spc="-1" strike="noStrike">
                <a:solidFill>
                  <a:srgbClr val="ffffff"/>
                </a:solidFill>
                <a:latin typeface="Calibri"/>
                <a:ea typeface="Calibri"/>
              </a:rPr>
              <a:t>Two problems</a:t>
            </a:r>
            <a:endParaRPr b="0" lang="en-US" sz="2200" spc="-1" strike="noStrike">
              <a:solidFill>
                <a:srgbClr val="000000"/>
              </a:solidFill>
              <a:latin typeface="Arial"/>
            </a:endParaRPr>
          </a:p>
        </p:txBody>
      </p:sp>
      <p:graphicFrame>
        <p:nvGraphicFramePr>
          <p:cNvPr id="26" name="Table 0"/>
          <p:cNvGraphicFramePr/>
          <p:nvPr/>
        </p:nvGraphicFramePr>
        <p:xfrm>
          <a:off x="457200" y="960120"/>
          <a:ext cx="8229240" cy="2025000"/>
        </p:xfrm>
        <a:graphic>
          <a:graphicData uri="http://schemas.openxmlformats.org/drawingml/2006/table">
            <a:tbl>
              <a:tblPr/>
              <a:tblGrid>
                <a:gridCol w="548640"/>
                <a:gridCol w="4572000"/>
                <a:gridCol w="3108960"/>
              </a:tblGrid>
              <a:tr h="398520">
                <a:tc>
                  <a:txBody>
                    <a:bodyPr lIns="45720" rIns="45720" anchor="ctr">
                      <a:noAutofit/>
                    </a:bodyPr>
                    <a:p>
                      <a:pPr defTabSz="914400">
                        <a:lnSpc>
                          <a:spcPct val="100000"/>
                        </a:lnSpc>
                        <a:tabLst>
                          <a:tab algn="l" pos="0"/>
                        </a:tabLst>
                      </a:pPr>
                      <a:r>
                        <a:rPr b="1" lang="en-US" sz="1200" spc="-1" strike="noStrike">
                          <a:solidFill>
                            <a:srgbClr val="ffffff"/>
                          </a:solidFill>
                          <a:latin typeface="Calibri"/>
                          <a:ea typeface="Calibri"/>
                        </a:rPr>
                        <a:t>#</a:t>
                      </a:r>
                      <a:endParaRPr b="0" lang="en-US" sz="1200" spc="-1" strike="noStrike">
                        <a:solidFill>
                          <a:srgbClr val="ffffff"/>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14532d"/>
                    </a:solidFill>
                  </a:tcPr>
                </a:tc>
                <a:tc>
                  <a:txBody>
                    <a:bodyPr lIns="45720" rIns="45720" anchor="ctr">
                      <a:noAutofit/>
                    </a:bodyPr>
                    <a:p>
                      <a:pPr defTabSz="914400">
                        <a:lnSpc>
                          <a:spcPct val="100000"/>
                        </a:lnSpc>
                        <a:tabLst>
                          <a:tab algn="l" pos="0"/>
                        </a:tabLst>
                      </a:pPr>
                      <a:r>
                        <a:rPr b="1" lang="en-US" sz="1200" spc="-1" strike="noStrike">
                          <a:solidFill>
                            <a:srgbClr val="ffffff"/>
                          </a:solidFill>
                          <a:latin typeface="Calibri"/>
                          <a:ea typeface="Calibri"/>
                        </a:rPr>
                        <a:t>Problem</a:t>
                      </a:r>
                      <a:endParaRPr b="0" lang="en-US" sz="1200" spc="-1" strike="noStrike">
                        <a:solidFill>
                          <a:srgbClr val="ffffff"/>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14532d"/>
                    </a:solidFill>
                  </a:tcPr>
                </a:tc>
                <a:tc>
                  <a:txBody>
                    <a:bodyPr lIns="45720" rIns="45720" anchor="ctr">
                      <a:noAutofit/>
                    </a:bodyPr>
                    <a:p>
                      <a:pPr defTabSz="914400">
                        <a:lnSpc>
                          <a:spcPct val="100000"/>
                        </a:lnSpc>
                        <a:tabLst>
                          <a:tab algn="l" pos="0"/>
                        </a:tabLst>
                      </a:pPr>
                      <a:r>
                        <a:rPr b="1" lang="en-US" sz="1200" spc="-1" strike="noStrike">
                          <a:solidFill>
                            <a:srgbClr val="ffffff"/>
                          </a:solidFill>
                          <a:latin typeface="Calibri"/>
                          <a:ea typeface="Calibri"/>
                        </a:rPr>
                        <a:t>What it costs him</a:t>
                      </a:r>
                      <a:endParaRPr b="0" lang="en-US" sz="1200" spc="-1" strike="noStrike">
                        <a:solidFill>
                          <a:srgbClr val="ffffff"/>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14532d"/>
                    </a:solidFill>
                  </a:tcPr>
                </a:tc>
              </a:tr>
              <a:tr h="951480">
                <a:tc>
                  <a:txBody>
                    <a:bodyPr lIns="45720" rIns="45720" anchor="ctr">
                      <a:noAutofit/>
                    </a:bodyPr>
                    <a:p>
                      <a:pPr defTabSz="914400">
                        <a:lnSpc>
                          <a:spcPct val="100000"/>
                        </a:lnSpc>
                        <a:tabLst>
                          <a:tab algn="l" pos="0"/>
                        </a:tabLst>
                      </a:pPr>
                      <a:r>
                        <a:rPr b="0" lang="en-US" sz="1200" spc="-1" strike="noStrike">
                          <a:solidFill>
                            <a:srgbClr val="1f2937"/>
                          </a:solidFill>
                          <a:latin typeface="Calibri"/>
                          <a:ea typeface="Calibri"/>
                        </a:rPr>
                        <a:t>P1</a:t>
                      </a:r>
                      <a:endParaRPr b="0" lang="en-US" sz="12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ffffff"/>
                    </a:solidFill>
                  </a:tcPr>
                </a:tc>
                <a:tc>
                  <a:txBody>
                    <a:bodyPr lIns="45720" rIns="45720" anchor="ctr">
                      <a:noAutofit/>
                    </a:bodyPr>
                    <a:p>
                      <a:pPr defTabSz="914400">
                        <a:lnSpc>
                          <a:spcPct val="100000"/>
                        </a:lnSpc>
                        <a:tabLst>
                          <a:tab algn="l" pos="0"/>
                        </a:tabLst>
                      </a:pPr>
                      <a:r>
                        <a:rPr b="0" lang="en-US" sz="1200" spc="-1" strike="noStrike">
                          <a:solidFill>
                            <a:srgbClr val="1f2937"/>
                          </a:solidFill>
                          <a:latin typeface="Calibri"/>
                          <a:ea typeface="Calibri"/>
                        </a:rPr>
                        <a:t>Decisions made without real information. The lab report is a page of numbers; nobody turns it into a crop choice, fertiliser quantity or cost sheet.</a:t>
                      </a:r>
                      <a:endParaRPr b="0" lang="en-US" sz="12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ffffff"/>
                    </a:solidFill>
                  </a:tcPr>
                </a:tc>
                <a:tc>
                  <a:txBody>
                    <a:bodyPr lIns="45720" rIns="45720" anchor="ctr">
                      <a:noAutofit/>
                    </a:bodyPr>
                    <a:p>
                      <a:pPr defTabSz="914400">
                        <a:lnSpc>
                          <a:spcPct val="100000"/>
                        </a:lnSpc>
                        <a:tabLst>
                          <a:tab algn="l" pos="0"/>
                        </a:tabLst>
                      </a:pPr>
                      <a:r>
                        <a:rPr b="0" lang="en-US" sz="1200" spc="-1" strike="noStrike">
                          <a:solidFill>
                            <a:srgbClr val="1f2937"/>
                          </a:solidFill>
                          <a:latin typeface="Calibri"/>
                          <a:ea typeface="Calibri"/>
                        </a:rPr>
                        <a:t>Crop chosen blind. Money and water wasted on the wrong dose.</a:t>
                      </a:r>
                      <a:endParaRPr b="0" lang="en-US" sz="12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ffffff"/>
                    </a:solidFill>
                  </a:tcPr>
                </a:tc>
              </a:tr>
              <a:tr h="675360">
                <a:tc>
                  <a:txBody>
                    <a:bodyPr lIns="45720" rIns="45720" anchor="ctr">
                      <a:noAutofit/>
                    </a:bodyPr>
                    <a:p>
                      <a:pPr defTabSz="914400">
                        <a:lnSpc>
                          <a:spcPct val="100000"/>
                        </a:lnSpc>
                        <a:tabLst>
                          <a:tab algn="l" pos="0"/>
                        </a:tabLst>
                      </a:pPr>
                      <a:r>
                        <a:rPr b="0" lang="en-US" sz="1200" spc="-1" strike="noStrike">
                          <a:solidFill>
                            <a:srgbClr val="1f2937"/>
                          </a:solidFill>
                          <a:latin typeface="Calibri"/>
                          <a:ea typeface="Calibri"/>
                        </a:rPr>
                        <a:t>P2</a:t>
                      </a:r>
                      <a:endParaRPr b="0" lang="en-US" sz="12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eef2e6"/>
                    </a:solidFill>
                  </a:tcPr>
                </a:tc>
                <a:tc>
                  <a:txBody>
                    <a:bodyPr lIns="45720" rIns="45720" anchor="ctr">
                      <a:noAutofit/>
                    </a:bodyPr>
                    <a:p>
                      <a:pPr defTabSz="914400">
                        <a:lnSpc>
                          <a:spcPct val="100000"/>
                        </a:lnSpc>
                        <a:tabLst>
                          <a:tab algn="l" pos="0"/>
                        </a:tabLst>
                      </a:pPr>
                      <a:r>
                        <a:rPr b="0" lang="en-US" sz="1200" spc="-1" strike="noStrike">
                          <a:solidFill>
                            <a:srgbClr val="1f2937"/>
                          </a:solidFill>
                          <a:latin typeface="Calibri"/>
                          <a:ea typeface="Calibri"/>
                        </a:rPr>
                        <a:t>No planning before harvest. He does not know total expense, water requirement, expected yield or profit.</a:t>
                      </a:r>
                      <a:endParaRPr b="0" lang="en-US" sz="12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eef2e6"/>
                    </a:solidFill>
                  </a:tcPr>
                </a:tc>
                <a:tc>
                  <a:txBody>
                    <a:bodyPr lIns="45720" rIns="45720" anchor="ctr">
                      <a:noAutofit/>
                    </a:bodyPr>
                    <a:p>
                      <a:pPr defTabSz="914400">
                        <a:lnSpc>
                          <a:spcPct val="100000"/>
                        </a:lnSpc>
                        <a:tabLst>
                          <a:tab algn="l" pos="0"/>
                        </a:tabLst>
                      </a:pPr>
                      <a:r>
                        <a:rPr b="0" lang="en-US" sz="1200" spc="-1" strike="noStrike">
                          <a:solidFill>
                            <a:srgbClr val="1f2937"/>
                          </a:solidFill>
                          <a:latin typeface="Calibri"/>
                          <a:ea typeface="Calibri"/>
                        </a:rPr>
                        <a:t>Learns the cost at season end. Cannot compare two crops.</a:t>
                      </a:r>
                      <a:endParaRPr b="0" lang="en-US" sz="12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eef2e6"/>
                    </a:solidFill>
                  </a:tcPr>
                </a:tc>
              </a:tr>
            </a:tbl>
          </a:graphicData>
        </a:graphic>
      </p:graphicFrame>
      <p:sp>
        <p:nvSpPr>
          <p:cNvPr id="27" name="Text 2"/>
          <p:cNvSpPr/>
          <p:nvPr/>
        </p:nvSpPr>
        <p:spPr>
          <a:xfrm>
            <a:off x="457200" y="4206240"/>
            <a:ext cx="822924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14532d"/>
                </a:solidFill>
                <a:latin typeface="Calibri"/>
                <a:ea typeface="Calibri"/>
              </a:rPr>
              <a:t>“</a:t>
            </a:r>
            <a:r>
              <a:rPr b="1" lang="en-US" sz="1300" spc="-1" strike="noStrike">
                <a:solidFill>
                  <a:srgbClr val="14532d"/>
                </a:solidFill>
                <a:latin typeface="Calibri"/>
                <a:ea typeface="Calibri"/>
              </a:rPr>
              <a:t>Every existing tool asks the farmer for what he already knows.”</a:t>
            </a:r>
            <a:endParaRPr b="0" lang="en-US" sz="1300" spc="-1" strike="noStrike">
              <a:solidFill>
                <a:srgbClr val="000000"/>
              </a:solidFill>
              <a:latin typeface="Arial"/>
            </a:endParaRPr>
          </a:p>
        </p:txBody>
      </p:sp>
    </p:spTree>
  </p:cSld>
  <p:transition spd="slow">
    <p:fade thruBlk="true"/>
  </p:transition>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ee"/>
        </a:solidFill>
      </p:bgPr>
    </p:bg>
    <p:spTree>
      <p:nvGrpSpPr>
        <p:cNvPr id="1" name=""/>
        <p:cNvGrpSpPr/>
        <p:nvPr/>
      </p:nvGrpSpPr>
      <p:grpSpPr>
        <a:xfrm>
          <a:off x="0" y="0"/>
          <a:ext cx="0" cy="0"/>
          <a:chOff x="0" y="0"/>
          <a:chExt cx="0" cy="0"/>
        </a:xfrm>
      </p:grpSpPr>
      <p:sp>
        <p:nvSpPr>
          <p:cNvPr id="28" name="Shape 0"/>
          <p:cNvSpPr/>
          <p:nvPr/>
        </p:nvSpPr>
        <p:spPr>
          <a:xfrm>
            <a:off x="0" y="0"/>
            <a:ext cx="9143640" cy="776880"/>
          </a:xfrm>
          <a:prstGeom prst="rect">
            <a:avLst/>
          </a:prstGeom>
          <a:solidFill>
            <a:srgbClr val="14532d"/>
          </a:solidFill>
          <a:ln w="12600">
            <a:solidFill>
              <a:srgbClr val="14532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 name="Text 1"/>
          <p:cNvSpPr/>
          <p:nvPr/>
        </p:nvSpPr>
        <p:spPr>
          <a:xfrm>
            <a:off x="457200" y="0"/>
            <a:ext cx="822924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200" spc="-1" strike="noStrike">
                <a:solidFill>
                  <a:srgbClr val="ffffff"/>
                </a:solidFill>
                <a:latin typeface="Calibri"/>
                <a:ea typeface="Calibri"/>
              </a:rPr>
              <a:t>Why existing tools do not answer it</a:t>
            </a:r>
            <a:endParaRPr b="0" lang="en-US" sz="2200" spc="-1" strike="noStrike">
              <a:solidFill>
                <a:srgbClr val="000000"/>
              </a:solidFill>
              <a:latin typeface="Arial"/>
            </a:endParaRPr>
          </a:p>
        </p:txBody>
      </p:sp>
      <p:sp>
        <p:nvSpPr>
          <p:cNvPr id="30" name="Shape 2"/>
          <p:cNvSpPr/>
          <p:nvPr/>
        </p:nvSpPr>
        <p:spPr>
          <a:xfrm>
            <a:off x="457200" y="1005840"/>
            <a:ext cx="8009640" cy="3593160"/>
          </a:xfrm>
          <a:prstGeom prst="roundRect">
            <a:avLst>
              <a:gd name="adj" fmla="val 3333"/>
            </a:avLst>
          </a:prstGeom>
          <a:solidFill>
            <a:srgbClr val="ffffff"/>
          </a:solidFill>
          <a:ln w="12600">
            <a:solidFill>
              <a:srgbClr val="d1d5d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1" name="Text 3"/>
          <p:cNvSpPr/>
          <p:nvPr/>
        </p:nvSpPr>
        <p:spPr>
          <a:xfrm>
            <a:off x="548640" y="1051560"/>
            <a:ext cx="7850880" cy="2102760"/>
          </a:xfrm>
          <a:prstGeom prst="rect">
            <a:avLst/>
          </a:prstGeom>
          <a:noFill/>
          <a:ln w="0">
            <a:noFill/>
          </a:ln>
        </p:spPr>
        <p:style>
          <a:lnRef idx="0"/>
          <a:fillRef idx="0"/>
          <a:effectRef idx="0"/>
          <a:fontRef idx="minor"/>
        </p:style>
        <p:txBody>
          <a:bodyPr lIns="0" rIns="0" tIns="0" bIns="0" anchor="t">
            <a:noAutofit/>
          </a:bodyPr>
          <a:p>
            <a:pPr defTabSz="914400">
              <a:lnSpc>
                <a:spcPct val="100000"/>
              </a:lnSpc>
              <a:spcAft>
                <a:spcPts val="400"/>
              </a:spcAft>
              <a:tabLst>
                <a:tab algn="l" pos="0"/>
              </a:tabLst>
            </a:pPr>
            <a:r>
              <a:rPr b="1" lang="en-US" sz="1500" spc="-1" strike="noStrike">
                <a:solidFill>
                  <a:srgbClr val="14532d"/>
                </a:solidFill>
                <a:latin typeface="Calibri"/>
                <a:ea typeface="Calibri"/>
              </a:rPr>
              <a:t>MandiOye</a:t>
            </a:r>
            <a:endParaRPr b="0" lang="en-US" sz="1500" spc="-1" strike="noStrike">
              <a:solidFill>
                <a:srgbClr val="000000"/>
              </a:solidFill>
              <a:latin typeface="Arial"/>
            </a:endParaRPr>
          </a:p>
          <a:p>
            <a:pPr defTabSz="914400">
              <a:lnSpc>
                <a:spcPct val="100000"/>
              </a:lnSpc>
              <a:spcAft>
                <a:spcPts val="400"/>
              </a:spcAft>
              <a:tabLst>
                <a:tab algn="l" pos="0"/>
              </a:tabLst>
            </a:pPr>
            <a:r>
              <a:rPr b="0" lang="en-US" sz="2000" spc="-1" strike="noStrike">
                <a:solidFill>
                  <a:srgbClr val="1f2937"/>
                </a:solidFill>
                <a:latin typeface="Calibri"/>
                <a:ea typeface="Calibri"/>
              </a:rPr>
              <a:t>25 free calculators incl. fertiliser dose, irrigation water, break-even. But the fertiliser calculator asks you for the nutrient requirement.</a:t>
            </a:r>
            <a:endParaRPr b="0" lang="en-US" sz="2000" spc="-1" strike="noStrike">
              <a:solidFill>
                <a:srgbClr val="000000"/>
              </a:solidFill>
              <a:latin typeface="Arial"/>
            </a:endParaRPr>
          </a:p>
          <a:p>
            <a:pPr defTabSz="914400">
              <a:lnSpc>
                <a:spcPct val="100000"/>
              </a:lnSpc>
              <a:spcAft>
                <a:spcPts val="400"/>
              </a:spcAft>
              <a:tabLst>
                <a:tab algn="l" pos="0"/>
              </a:tabLst>
            </a:pPr>
            <a:r>
              <a:rPr b="0" lang="en-US" sz="2000" spc="-1" strike="noStrike">
                <a:solidFill>
                  <a:srgbClr val="1f2937"/>
                </a:solidFill>
                <a:latin typeface="Calibri"/>
                <a:ea typeface="Calibri"/>
              </a:rPr>
              <a:t>Ours takes only the soil reading recommendation bands come from SFRI Guide-V.</a:t>
            </a:r>
            <a:endParaRPr b="0" lang="en-US" sz="2000" spc="-1" strike="noStrike">
              <a:solidFill>
                <a:srgbClr val="000000"/>
              </a:solidFill>
              <a:latin typeface="Arial"/>
            </a:endParaRPr>
          </a:p>
        </p:txBody>
      </p:sp>
    </p:spTree>
  </p:cSld>
  <p:transition spd="slow">
    <p:fade thruBlk="true"/>
  </p:transition>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ee"/>
        </a:solidFill>
      </p:bgPr>
    </p:bg>
    <p:spTree>
      <p:nvGrpSpPr>
        <p:cNvPr id="1" name=""/>
        <p:cNvGrpSpPr/>
        <p:nvPr/>
      </p:nvGrpSpPr>
      <p:grpSpPr>
        <a:xfrm>
          <a:off x="0" y="0"/>
          <a:ext cx="0" cy="0"/>
          <a:chOff x="0" y="0"/>
          <a:chExt cx="0" cy="0"/>
        </a:xfrm>
      </p:grpSpPr>
      <p:sp>
        <p:nvSpPr>
          <p:cNvPr id="32" name="Shape 5"/>
          <p:cNvSpPr/>
          <p:nvPr/>
        </p:nvSpPr>
        <p:spPr>
          <a:xfrm>
            <a:off x="0" y="0"/>
            <a:ext cx="9143640" cy="776880"/>
          </a:xfrm>
          <a:prstGeom prst="rect">
            <a:avLst/>
          </a:prstGeom>
          <a:solidFill>
            <a:srgbClr val="14532d"/>
          </a:solidFill>
          <a:ln w="12600">
            <a:solidFill>
              <a:srgbClr val="14532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3" name="Text 12"/>
          <p:cNvSpPr/>
          <p:nvPr/>
        </p:nvSpPr>
        <p:spPr>
          <a:xfrm>
            <a:off x="457200" y="0"/>
            <a:ext cx="822924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200" spc="-1" strike="noStrike">
                <a:solidFill>
                  <a:srgbClr val="ffffff"/>
                </a:solidFill>
                <a:latin typeface="Calibri"/>
                <a:ea typeface="Calibri"/>
              </a:rPr>
              <a:t>SFIR – Soil Fertility Research institute</a:t>
            </a:r>
            <a:endParaRPr b="0" lang="en-US" sz="2200" spc="-1" strike="noStrike">
              <a:solidFill>
                <a:srgbClr val="000000"/>
              </a:solidFill>
              <a:latin typeface="Arial"/>
            </a:endParaRPr>
          </a:p>
        </p:txBody>
      </p:sp>
      <p:sp>
        <p:nvSpPr>
          <p:cNvPr id="34" name="Text 13"/>
          <p:cNvSpPr/>
          <p:nvPr/>
        </p:nvSpPr>
        <p:spPr>
          <a:xfrm>
            <a:off x="731520" y="864720"/>
            <a:ext cx="7647480" cy="2344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pc="-1" strike="noStrike">
                <a:solidFill>
                  <a:srgbClr val="14532d"/>
                </a:solidFill>
                <a:latin typeface="Calibri"/>
                <a:ea typeface="Calibri"/>
              </a:rPr>
              <a:t>SFRI Guide 5(Urdu): Soil &amp; Water Data Interpretation &amp; Fertilizer Recommendations for Farmer Fields (2021)</a:t>
            </a:r>
            <a:endParaRPr b="0" lang="en-US" sz="3000" spc="-1" strike="noStrike">
              <a:solidFill>
                <a:srgbClr val="000000"/>
              </a:solidFill>
              <a:latin typeface="Arial"/>
            </a:endParaRPr>
          </a:p>
        </p:txBody>
      </p:sp>
      <p:sp>
        <p:nvSpPr>
          <p:cNvPr id="35" name="Text 14"/>
          <p:cNvSpPr/>
          <p:nvPr/>
        </p:nvSpPr>
        <p:spPr>
          <a:xfrm>
            <a:off x="457200" y="3931920"/>
            <a:ext cx="8229240" cy="502560"/>
          </a:xfrm>
          <a:prstGeom prst="rect">
            <a:avLst/>
          </a:prstGeom>
          <a:noFill/>
          <a:ln w="0">
            <a:noFill/>
          </a:ln>
        </p:spPr>
        <p:style>
          <a:lnRef idx="0"/>
          <a:fillRef idx="0"/>
          <a:effectRef idx="0"/>
          <a:fontRef idx="minor"/>
        </p:style>
        <p:txBody>
          <a:bodyPr lIns="0" rIns="0" tIns="0" bIns="0" anchor="ctr">
            <a:noAutofit/>
          </a:bodyPr>
          <a:p>
            <a:endParaRPr b="0" lang="en-US" sz="1800" spc="-1" strike="noStrike">
              <a:solidFill>
                <a:srgbClr val="000000"/>
              </a:solidFill>
              <a:latin typeface="Arial"/>
            </a:endParaRPr>
          </a:p>
        </p:txBody>
      </p:sp>
      <p:sp>
        <p:nvSpPr>
          <p:cNvPr id="36" name="Text 15"/>
          <p:cNvSpPr/>
          <p:nvPr/>
        </p:nvSpPr>
        <p:spPr>
          <a:xfrm>
            <a:off x="457200" y="4206240"/>
            <a:ext cx="822924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spcBef>
                <a:spcPts val="1191"/>
              </a:spcBef>
              <a:spcAft>
                <a:spcPts val="992"/>
              </a:spcAft>
              <a:tabLst>
                <a:tab algn="l" pos="0"/>
              </a:tabLst>
            </a:pPr>
            <a:r>
              <a:rPr b="1" lang="en-US" sz="1800" spc="-1" strike="noStrike">
                <a:solidFill>
                  <a:srgbClr val="14532d"/>
                </a:solidFill>
                <a:latin typeface="Calibri"/>
                <a:ea typeface="Calibri"/>
              </a:rPr>
              <a:t>N-P-K target ranges per soil type; the recommendation method</a:t>
            </a:r>
            <a:endParaRPr b="0" lang="en-US" sz="1800" spc="-1" strike="noStrike">
              <a:solidFill>
                <a:srgbClr val="000000"/>
              </a:solidFill>
              <a:latin typeface="Arial"/>
            </a:endParaRPr>
          </a:p>
        </p:txBody>
      </p:sp>
    </p:spTree>
  </p:cSld>
  <p:transition spd="slow">
    <p:fade thruBlk="true"/>
  </p:transition>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ee"/>
        </a:solidFill>
      </p:bgPr>
    </p:bg>
    <p:spTree>
      <p:nvGrpSpPr>
        <p:cNvPr id="1" name=""/>
        <p:cNvGrpSpPr/>
        <p:nvPr/>
      </p:nvGrpSpPr>
      <p:grpSpPr>
        <a:xfrm>
          <a:off x="0" y="0"/>
          <a:ext cx="0" cy="0"/>
          <a:chOff x="0" y="0"/>
          <a:chExt cx="0" cy="0"/>
        </a:xfrm>
      </p:grpSpPr>
      <p:sp>
        <p:nvSpPr>
          <p:cNvPr id="37" name="Shape 0"/>
          <p:cNvSpPr/>
          <p:nvPr/>
        </p:nvSpPr>
        <p:spPr>
          <a:xfrm>
            <a:off x="0" y="0"/>
            <a:ext cx="9143640" cy="776880"/>
          </a:xfrm>
          <a:prstGeom prst="rect">
            <a:avLst/>
          </a:prstGeom>
          <a:solidFill>
            <a:srgbClr val="14532d"/>
          </a:solidFill>
          <a:ln w="12600">
            <a:solidFill>
              <a:srgbClr val="14532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 name="Text 1"/>
          <p:cNvSpPr/>
          <p:nvPr/>
        </p:nvSpPr>
        <p:spPr>
          <a:xfrm>
            <a:off x="457200" y="0"/>
            <a:ext cx="822924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200" spc="-1" strike="noStrike">
                <a:solidFill>
                  <a:srgbClr val="ffffff"/>
                </a:solidFill>
                <a:latin typeface="Calibri"/>
                <a:ea typeface="Calibri"/>
              </a:rPr>
              <a:t>What we built</a:t>
            </a:r>
            <a:endParaRPr b="0" lang="en-US" sz="2200" spc="-1" strike="noStrike">
              <a:solidFill>
                <a:srgbClr val="000000"/>
              </a:solidFill>
              <a:latin typeface="Arial"/>
            </a:endParaRPr>
          </a:p>
        </p:txBody>
      </p:sp>
      <p:sp>
        <p:nvSpPr>
          <p:cNvPr id="39" name="Shape 2"/>
          <p:cNvSpPr/>
          <p:nvPr/>
        </p:nvSpPr>
        <p:spPr>
          <a:xfrm>
            <a:off x="457200" y="914400"/>
            <a:ext cx="8229240" cy="685440"/>
          </a:xfrm>
          <a:prstGeom prst="roundRect">
            <a:avLst>
              <a:gd name="adj" fmla="val 8000"/>
            </a:avLst>
          </a:prstGeom>
          <a:solidFill>
            <a:srgbClr val="ffffff"/>
          </a:solidFill>
          <a:ln w="15840">
            <a:solidFill>
              <a:srgbClr val="d1d5d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0" name="Text 3"/>
          <p:cNvSpPr/>
          <p:nvPr/>
        </p:nvSpPr>
        <p:spPr>
          <a:xfrm>
            <a:off x="594360" y="932760"/>
            <a:ext cx="795492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14532d"/>
                </a:solidFill>
                <a:latin typeface="Calibri"/>
                <a:ea typeface="Calibri"/>
              </a:rPr>
              <a:t>React 18 + Vite — 5 pages, 2 chart components</a:t>
            </a:r>
            <a:endParaRPr b="0" lang="en-US" sz="1250" spc="-1" strike="noStrike">
              <a:solidFill>
                <a:srgbClr val="000000"/>
              </a:solidFill>
              <a:latin typeface="Arial"/>
            </a:endParaRPr>
          </a:p>
          <a:p>
            <a:pPr defTabSz="914400">
              <a:lnSpc>
                <a:spcPct val="100000"/>
              </a:lnSpc>
              <a:tabLst>
                <a:tab algn="l" pos="0"/>
              </a:tabLst>
            </a:pPr>
            <a:r>
              <a:rPr b="0" lang="en-US" sz="1050" spc="-1" strike="noStrike">
                <a:solidFill>
                  <a:srgbClr val="1f2937"/>
                </a:solidFill>
                <a:latin typeface="Calibri"/>
                <a:ea typeface="Calibri"/>
              </a:rPr>
              <a:t>Login/Register · Dashboard · Land &amp; Soil Setup · Planner · NPK Advisor</a:t>
            </a:r>
            <a:endParaRPr b="0" lang="en-US" sz="1050" spc="-1" strike="noStrike">
              <a:solidFill>
                <a:srgbClr val="000000"/>
              </a:solidFill>
              <a:latin typeface="Arial"/>
            </a:endParaRPr>
          </a:p>
        </p:txBody>
      </p:sp>
      <p:sp>
        <p:nvSpPr>
          <p:cNvPr id="41" name="Shape 4"/>
          <p:cNvSpPr/>
          <p:nvPr/>
        </p:nvSpPr>
        <p:spPr>
          <a:xfrm>
            <a:off x="457200" y="1719000"/>
            <a:ext cx="8229240" cy="685440"/>
          </a:xfrm>
          <a:prstGeom prst="roundRect">
            <a:avLst>
              <a:gd name="adj" fmla="val 8000"/>
            </a:avLst>
          </a:prstGeom>
          <a:solidFill>
            <a:srgbClr val="ffffff"/>
          </a:solidFill>
          <a:ln w="15840">
            <a:solidFill>
              <a:srgbClr val="d1d5d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2" name="Text 5"/>
          <p:cNvSpPr/>
          <p:nvPr/>
        </p:nvSpPr>
        <p:spPr>
          <a:xfrm>
            <a:off x="594360" y="1737360"/>
            <a:ext cx="795492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14532d"/>
                </a:solidFill>
                <a:latin typeface="Calibri"/>
                <a:ea typeface="Calibri"/>
              </a:rPr>
              <a:t>Express API — 6 route groups, JWT auth, Zod validation</a:t>
            </a:r>
            <a:endParaRPr b="0" lang="en-US" sz="1250" spc="-1" strike="noStrike">
              <a:solidFill>
                <a:srgbClr val="000000"/>
              </a:solidFill>
              <a:latin typeface="Arial"/>
            </a:endParaRPr>
          </a:p>
          <a:p>
            <a:pPr defTabSz="914400">
              <a:lnSpc>
                <a:spcPct val="100000"/>
              </a:lnSpc>
              <a:tabLst>
                <a:tab algn="l" pos="0"/>
              </a:tabLst>
            </a:pPr>
            <a:r>
              <a:rPr b="0" lang="en-US" sz="1050" spc="-1" strike="noStrike">
                <a:solidFill>
                  <a:srgbClr val="1f2937"/>
                </a:solidFill>
                <a:latin typeface="Calibri"/>
                <a:ea typeface="Calibri"/>
              </a:rPr>
              <a:t>/auth · /ref (districts, crops, soil-types) · /climate · /soil/recommend · /plan/calculate · /simulator/recompute</a:t>
            </a:r>
            <a:endParaRPr b="0" lang="en-US" sz="1050" spc="-1" strike="noStrike">
              <a:solidFill>
                <a:srgbClr val="000000"/>
              </a:solidFill>
              <a:latin typeface="Arial"/>
            </a:endParaRPr>
          </a:p>
        </p:txBody>
      </p:sp>
      <p:sp>
        <p:nvSpPr>
          <p:cNvPr id="43" name="Shape 6"/>
          <p:cNvSpPr/>
          <p:nvPr/>
        </p:nvSpPr>
        <p:spPr>
          <a:xfrm>
            <a:off x="457200" y="2523600"/>
            <a:ext cx="8229240" cy="685440"/>
          </a:xfrm>
          <a:prstGeom prst="roundRect">
            <a:avLst>
              <a:gd name="adj" fmla="val 8000"/>
            </a:avLst>
          </a:prstGeom>
          <a:solidFill>
            <a:srgbClr val="fef3c7"/>
          </a:solidFill>
          <a:ln w="15840">
            <a:solidFill>
              <a:srgbClr val="f59e0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4" name="Text 7"/>
          <p:cNvSpPr/>
          <p:nvPr/>
        </p:nvSpPr>
        <p:spPr>
          <a:xfrm>
            <a:off x="594360" y="2541960"/>
            <a:ext cx="795492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14532d"/>
                </a:solidFill>
                <a:latin typeface="Calibri"/>
                <a:ea typeface="Calibri"/>
              </a:rPr>
              <a:t>THE BRAIN — 4 pure calculation services</a:t>
            </a:r>
            <a:endParaRPr b="0" lang="en-US" sz="1250" spc="-1" strike="noStrike">
              <a:solidFill>
                <a:srgbClr val="000000"/>
              </a:solidFill>
              <a:latin typeface="Arial"/>
            </a:endParaRPr>
          </a:p>
          <a:p>
            <a:pPr defTabSz="914400">
              <a:lnSpc>
                <a:spcPct val="100000"/>
              </a:lnSpc>
              <a:tabLst>
                <a:tab algn="l" pos="0"/>
              </a:tabLst>
            </a:pPr>
            <a:r>
              <a:rPr b="0" lang="en-US" sz="1050" spc="-1" strike="noStrike">
                <a:solidFill>
                  <a:srgbClr val="1f2937"/>
                </a:solidFill>
                <a:latin typeface="Calibri"/>
                <a:ea typeface="Calibri"/>
              </a:rPr>
              <a:t>sfri.service (NPK → bags) · planner.service (cost + water + ROI) · climate.service (suitability)</a:t>
            </a:r>
            <a:endParaRPr b="0" lang="en-US" sz="1050" spc="-1" strike="noStrike">
              <a:solidFill>
                <a:srgbClr val="000000"/>
              </a:solidFill>
              <a:latin typeface="Arial"/>
            </a:endParaRPr>
          </a:p>
        </p:txBody>
      </p:sp>
      <p:sp>
        <p:nvSpPr>
          <p:cNvPr id="45" name="Shape 8"/>
          <p:cNvSpPr/>
          <p:nvPr/>
        </p:nvSpPr>
        <p:spPr>
          <a:xfrm>
            <a:off x="457200" y="3328560"/>
            <a:ext cx="8229240" cy="685440"/>
          </a:xfrm>
          <a:prstGeom prst="roundRect">
            <a:avLst>
              <a:gd name="adj" fmla="val 8000"/>
            </a:avLst>
          </a:prstGeom>
          <a:solidFill>
            <a:srgbClr val="ffffff"/>
          </a:solidFill>
          <a:ln w="15840">
            <a:solidFill>
              <a:srgbClr val="d1d5d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6" name="Text 9"/>
          <p:cNvSpPr/>
          <p:nvPr/>
        </p:nvSpPr>
        <p:spPr>
          <a:xfrm>
            <a:off x="594360" y="3346560"/>
            <a:ext cx="795492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14532d"/>
                </a:solidFill>
                <a:latin typeface="Calibri"/>
                <a:ea typeface="Calibri"/>
              </a:rPr>
              <a:t>MongoDB (local)</a:t>
            </a:r>
            <a:endParaRPr b="0" lang="en-US" sz="1250" spc="-1" strike="noStrike">
              <a:solidFill>
                <a:srgbClr val="000000"/>
              </a:solidFill>
              <a:latin typeface="Arial"/>
            </a:endParaRPr>
          </a:p>
          <a:p>
            <a:pPr defTabSz="914400">
              <a:lnSpc>
                <a:spcPct val="100000"/>
              </a:lnSpc>
              <a:tabLst>
                <a:tab algn="l" pos="0"/>
              </a:tabLst>
            </a:pPr>
            <a:r>
              <a:rPr b="0" lang="en-US" sz="1050" spc="-1" strike="noStrike">
                <a:solidFill>
                  <a:srgbClr val="1f2937"/>
                </a:solidFill>
                <a:latin typeface="Calibri"/>
                <a:ea typeface="Calibri"/>
              </a:rPr>
              <a:t>Compus atlas</a:t>
            </a:r>
            <a:endParaRPr b="0" lang="en-US" sz="1050" spc="-1" strike="noStrike">
              <a:solidFill>
                <a:srgbClr val="000000"/>
              </a:solidFill>
              <a:latin typeface="Arial"/>
            </a:endParaRPr>
          </a:p>
        </p:txBody>
      </p:sp>
      <p:sp>
        <p:nvSpPr>
          <p:cNvPr id="47" name="Text 10"/>
          <p:cNvSpPr/>
          <p:nvPr/>
        </p:nvSpPr>
        <p:spPr>
          <a:xfrm>
            <a:off x="457200" y="4206240"/>
            <a:ext cx="82292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14532d"/>
                </a:solidFill>
                <a:latin typeface="Calibri"/>
                <a:ea typeface="Calibri"/>
              </a:rPr>
              <a:t>User input → published formulas → cited results.  5 pages · 7 screens · 6 routes · 4 services </a:t>
            </a:r>
            <a:endParaRPr b="0" lang="en-US" sz="1200" spc="-1" strike="noStrike">
              <a:solidFill>
                <a:srgbClr val="000000"/>
              </a:solidFill>
              <a:latin typeface="Arial"/>
            </a:endParaRPr>
          </a:p>
        </p:txBody>
      </p:sp>
    </p:spTree>
  </p:cSld>
  <p:transition spd="slow">
    <p:fade thruBlk="true"/>
  </p:transition>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ee"/>
        </a:solidFill>
      </p:bgPr>
    </p:bg>
    <p:spTree>
      <p:nvGrpSpPr>
        <p:cNvPr id="1" name=""/>
        <p:cNvGrpSpPr/>
        <p:nvPr/>
      </p:nvGrpSpPr>
      <p:grpSpPr>
        <a:xfrm>
          <a:off x="0" y="0"/>
          <a:ext cx="0" cy="0"/>
          <a:chOff x="0" y="0"/>
          <a:chExt cx="0" cy="0"/>
        </a:xfrm>
      </p:grpSpPr>
      <p:sp>
        <p:nvSpPr>
          <p:cNvPr id="48" name="Shape 0"/>
          <p:cNvSpPr/>
          <p:nvPr/>
        </p:nvSpPr>
        <p:spPr>
          <a:xfrm>
            <a:off x="0" y="0"/>
            <a:ext cx="9143640" cy="776880"/>
          </a:xfrm>
          <a:prstGeom prst="rect">
            <a:avLst/>
          </a:prstGeom>
          <a:solidFill>
            <a:srgbClr val="14532d"/>
          </a:solidFill>
          <a:ln w="12600">
            <a:solidFill>
              <a:srgbClr val="14532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 name="Text 1"/>
          <p:cNvSpPr/>
          <p:nvPr/>
        </p:nvSpPr>
        <p:spPr>
          <a:xfrm>
            <a:off x="457200" y="0"/>
            <a:ext cx="822924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200" spc="-1" strike="noStrike">
                <a:solidFill>
                  <a:srgbClr val="ffffff"/>
                </a:solidFill>
                <a:latin typeface="Calibri"/>
                <a:ea typeface="Calibri"/>
              </a:rPr>
              <a:t>Screen walkthrough: land, climate, soil</a:t>
            </a:r>
            <a:endParaRPr b="0" lang="en-US" sz="2200" spc="-1" strike="noStrike">
              <a:solidFill>
                <a:srgbClr val="000000"/>
              </a:solidFill>
              <a:latin typeface="Arial"/>
            </a:endParaRPr>
          </a:p>
        </p:txBody>
      </p:sp>
      <p:sp>
        <p:nvSpPr>
          <p:cNvPr id="50" name="Shape 2"/>
          <p:cNvSpPr/>
          <p:nvPr/>
        </p:nvSpPr>
        <p:spPr>
          <a:xfrm>
            <a:off x="457200" y="1005840"/>
            <a:ext cx="3931560" cy="2925720"/>
          </a:xfrm>
          <a:prstGeom prst="roundRect">
            <a:avLst>
              <a:gd name="adj" fmla="val 2500"/>
            </a:avLst>
          </a:prstGeom>
          <a:solidFill>
            <a:srgbClr val="ffffff"/>
          </a:solidFill>
          <a:ln w="12600">
            <a:solidFill>
              <a:srgbClr val="d1d5d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1" name="Text 3"/>
          <p:cNvSpPr/>
          <p:nvPr/>
        </p:nvSpPr>
        <p:spPr>
          <a:xfrm>
            <a:off x="548640" y="1051560"/>
            <a:ext cx="3748680" cy="2834280"/>
          </a:xfrm>
          <a:prstGeom prst="rect">
            <a:avLst/>
          </a:prstGeom>
          <a:noFill/>
          <a:ln w="0">
            <a:noFill/>
          </a:ln>
        </p:spPr>
        <p:style>
          <a:lnRef idx="0"/>
          <a:fillRef idx="0"/>
          <a:effectRef idx="0"/>
          <a:fontRef idx="minor"/>
        </p:style>
        <p:txBody>
          <a:bodyPr lIns="0" rIns="0" tIns="0" bIns="0" anchor="t">
            <a:noAutofit/>
          </a:bodyPr>
          <a:p>
            <a:pPr defTabSz="914400">
              <a:lnSpc>
                <a:spcPct val="100000"/>
              </a:lnSpc>
              <a:spcAft>
                <a:spcPts val="400"/>
              </a:spcAft>
              <a:tabLst>
                <a:tab algn="l" pos="0"/>
              </a:tabLst>
            </a:pPr>
            <a:r>
              <a:rPr b="1" lang="en-US" sz="1500" spc="-1" strike="noStrike">
                <a:solidFill>
                  <a:srgbClr val="14532d"/>
                </a:solidFill>
                <a:latin typeface="Calibri"/>
                <a:ea typeface="Calibri"/>
              </a:rPr>
              <a:t>Land &amp; Soil Setup</a:t>
            </a:r>
            <a:endParaRPr b="0" lang="en-US" sz="1500" spc="-1" strike="noStrike">
              <a:solidFill>
                <a:srgbClr val="000000"/>
              </a:solidFill>
              <a:latin typeface="Arial"/>
            </a:endParaRPr>
          </a:p>
          <a:p>
            <a:pPr marL="343080" indent="-343080" defTabSz="914400">
              <a:lnSpc>
                <a:spcPct val="100000"/>
              </a:lnSpc>
              <a:spcAft>
                <a:spcPts val="400"/>
              </a:spcAft>
              <a:buClr>
                <a:srgbClr val="1f2937"/>
              </a:buClr>
              <a:buFont typeface="Symbol" charset="2"/>
              <a:buChar char=""/>
              <a:tabLst>
                <a:tab algn="l" pos="0"/>
              </a:tabLst>
            </a:pPr>
            <a:r>
              <a:rPr b="0" lang="en-US" sz="1250" spc="-1" strike="noStrike">
                <a:solidFill>
                  <a:srgbClr val="1f2937"/>
                </a:solidFill>
                <a:latin typeface="Calibri"/>
                <a:ea typeface="Calibri"/>
              </a:rPr>
              <a:t>District: Faisalabad</a:t>
            </a:r>
            <a:endParaRPr b="0" lang="en-US" sz="1250" spc="-1" strike="noStrike">
              <a:solidFill>
                <a:srgbClr val="000000"/>
              </a:solidFill>
              <a:latin typeface="Arial"/>
            </a:endParaRPr>
          </a:p>
          <a:p>
            <a:pPr marL="343080" indent="-343080" defTabSz="914400">
              <a:lnSpc>
                <a:spcPct val="100000"/>
              </a:lnSpc>
              <a:spcAft>
                <a:spcPts val="400"/>
              </a:spcAft>
              <a:buClr>
                <a:srgbClr val="1f2937"/>
              </a:buClr>
              <a:buFont typeface="Symbol" charset="2"/>
              <a:buChar char=""/>
              <a:tabLst>
                <a:tab algn="l" pos="0"/>
              </a:tabLst>
            </a:pPr>
            <a:r>
              <a:rPr b="0" lang="en-US" sz="1250" spc="-1" strike="noStrike">
                <a:solidFill>
                  <a:srgbClr val="1f2937"/>
                </a:solidFill>
                <a:latin typeface="Calibri"/>
                <a:ea typeface="Calibri"/>
              </a:rPr>
              <a:t>Area: 6.2 acres (0.1–100)</a:t>
            </a:r>
            <a:endParaRPr b="0" lang="en-US" sz="1250" spc="-1" strike="noStrike">
              <a:solidFill>
                <a:srgbClr val="000000"/>
              </a:solidFill>
              <a:latin typeface="Arial"/>
            </a:endParaRPr>
          </a:p>
          <a:p>
            <a:pPr marL="343080" indent="-343080" defTabSz="914400">
              <a:lnSpc>
                <a:spcPct val="100000"/>
              </a:lnSpc>
              <a:spcAft>
                <a:spcPts val="400"/>
              </a:spcAft>
              <a:buClr>
                <a:srgbClr val="1f2937"/>
              </a:buClr>
              <a:buFont typeface="Symbol" charset="2"/>
              <a:buChar char=""/>
              <a:tabLst>
                <a:tab algn="l" pos="0"/>
              </a:tabLst>
            </a:pPr>
            <a:r>
              <a:rPr b="0" lang="en-US" sz="1250" spc="-1" strike="noStrike">
                <a:solidFill>
                  <a:srgbClr val="1f2937"/>
                </a:solidFill>
                <a:latin typeface="Calibri"/>
                <a:ea typeface="Calibri"/>
              </a:rPr>
              <a:t>Soil type: Loam</a:t>
            </a:r>
            <a:endParaRPr b="0" lang="en-US" sz="1250" spc="-1" strike="noStrike">
              <a:solidFill>
                <a:srgbClr val="000000"/>
              </a:solidFill>
              <a:latin typeface="Arial"/>
            </a:endParaRPr>
          </a:p>
          <a:p>
            <a:pPr marL="343080" indent="-343080" defTabSz="914400">
              <a:lnSpc>
                <a:spcPct val="100000"/>
              </a:lnSpc>
              <a:spcAft>
                <a:spcPts val="400"/>
              </a:spcAft>
              <a:buClr>
                <a:srgbClr val="1f2937"/>
              </a:buClr>
              <a:buFont typeface="Symbol" charset="2"/>
              <a:buChar char=""/>
              <a:tabLst>
                <a:tab algn="l" pos="0"/>
              </a:tabLst>
            </a:pPr>
            <a:r>
              <a:rPr b="0" lang="en-US" sz="1250" spc="-1" strike="noStrike">
                <a:solidFill>
                  <a:srgbClr val="1f2937"/>
                </a:solidFill>
                <a:latin typeface="Calibri"/>
                <a:ea typeface="Calibri"/>
              </a:rPr>
              <a:t>Climate : 21°C · 22 mm rain · 34% rain probability · 48% RH · frost risk none</a:t>
            </a:r>
            <a:endParaRPr b="0" lang="en-US" sz="1250" spc="-1" strike="noStrike">
              <a:solidFill>
                <a:srgbClr val="000000"/>
              </a:solidFill>
              <a:latin typeface="Arial"/>
            </a:endParaRPr>
          </a:p>
          <a:p>
            <a:pPr marL="343080" indent="-343080" defTabSz="914400">
              <a:lnSpc>
                <a:spcPct val="100000"/>
              </a:lnSpc>
              <a:spcAft>
                <a:spcPts val="400"/>
              </a:spcAft>
              <a:buClr>
                <a:srgbClr val="1f2937"/>
              </a:buClr>
              <a:buFont typeface="Symbol" charset="2"/>
              <a:buChar char=""/>
              <a:tabLst>
                <a:tab algn="l" pos="0"/>
              </a:tabLst>
            </a:pPr>
            <a:r>
              <a:rPr b="0" lang="en-US" sz="1250" spc="-1" strike="noStrike">
                <a:solidFill>
                  <a:srgbClr val="1f2937"/>
                </a:solidFill>
                <a:latin typeface="Calibri"/>
                <a:ea typeface="Calibri"/>
              </a:rPr>
              <a:t>Soil test: N 42 · P 18 · K 55 kg/ha · pH 7.4</a:t>
            </a:r>
            <a:endParaRPr b="0" lang="en-US" sz="1250" spc="-1" strike="noStrike">
              <a:solidFill>
                <a:srgbClr val="000000"/>
              </a:solidFill>
              <a:latin typeface="Arial"/>
            </a:endParaRPr>
          </a:p>
        </p:txBody>
      </p:sp>
      <p:sp>
        <p:nvSpPr>
          <p:cNvPr id="52" name="Shape 4"/>
          <p:cNvSpPr/>
          <p:nvPr/>
        </p:nvSpPr>
        <p:spPr>
          <a:xfrm>
            <a:off x="4754880" y="1005840"/>
            <a:ext cx="3931560" cy="2925720"/>
          </a:xfrm>
          <a:prstGeom prst="roundRect">
            <a:avLst>
              <a:gd name="adj" fmla="val 2500"/>
            </a:avLst>
          </a:prstGeom>
          <a:solidFill>
            <a:srgbClr val="ffffff"/>
          </a:solidFill>
          <a:ln w="12600">
            <a:solidFill>
              <a:srgbClr val="d1d5d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3" name="Text 5"/>
          <p:cNvSpPr/>
          <p:nvPr/>
        </p:nvSpPr>
        <p:spPr>
          <a:xfrm>
            <a:off x="4846320" y="1051560"/>
            <a:ext cx="3748680" cy="2834280"/>
          </a:xfrm>
          <a:prstGeom prst="rect">
            <a:avLst/>
          </a:prstGeom>
          <a:noFill/>
          <a:ln w="0">
            <a:noFill/>
          </a:ln>
        </p:spPr>
        <p:style>
          <a:lnRef idx="0"/>
          <a:fillRef idx="0"/>
          <a:effectRef idx="0"/>
          <a:fontRef idx="minor"/>
        </p:style>
        <p:txBody>
          <a:bodyPr lIns="0" rIns="0" tIns="0" bIns="0" anchor="t">
            <a:noAutofit/>
          </a:bodyPr>
          <a:p>
            <a:pPr defTabSz="914400">
              <a:lnSpc>
                <a:spcPct val="100000"/>
              </a:lnSpc>
              <a:spcAft>
                <a:spcPts val="400"/>
              </a:spcAft>
              <a:tabLst>
                <a:tab algn="l" pos="0"/>
              </a:tabLst>
            </a:pPr>
            <a:r>
              <a:rPr b="1" lang="en-US" sz="1500" spc="-1" strike="noStrike">
                <a:solidFill>
                  <a:srgbClr val="14532d"/>
                </a:solidFill>
                <a:latin typeface="Calibri"/>
                <a:ea typeface="Calibri"/>
              </a:rPr>
              <a:t>NPK Advisor (radar)</a:t>
            </a:r>
            <a:endParaRPr b="0" lang="en-US" sz="1500" spc="-1" strike="noStrike">
              <a:solidFill>
                <a:srgbClr val="000000"/>
              </a:solidFill>
              <a:latin typeface="Arial"/>
            </a:endParaRPr>
          </a:p>
          <a:p>
            <a:pPr marL="343080" indent="-343080" defTabSz="914400">
              <a:lnSpc>
                <a:spcPct val="100000"/>
              </a:lnSpc>
              <a:spcAft>
                <a:spcPts val="400"/>
              </a:spcAft>
              <a:buClr>
                <a:srgbClr val="1f2937"/>
              </a:buClr>
              <a:buFont typeface="Symbol" charset="2"/>
              <a:buChar char=""/>
              <a:tabLst>
                <a:tab algn="l" pos="0"/>
              </a:tabLst>
            </a:pPr>
            <a:r>
              <a:rPr b="0" lang="en-US" sz="1250" spc="-1" strike="noStrike">
                <a:solidFill>
                  <a:srgbClr val="1f2937"/>
                </a:solidFill>
                <a:latin typeface="Calibri"/>
                <a:ea typeface="Calibri"/>
              </a:rPr>
              <a:t>Axes: pH, K, P, N — ring = your soil, filled = loam target</a:t>
            </a:r>
            <a:endParaRPr b="0" lang="en-US" sz="1250" spc="-1" strike="noStrike">
              <a:solidFill>
                <a:srgbClr val="000000"/>
              </a:solidFill>
              <a:latin typeface="Arial"/>
            </a:endParaRPr>
          </a:p>
          <a:p>
            <a:pPr marL="343080" indent="-343080" defTabSz="914400">
              <a:lnSpc>
                <a:spcPct val="100000"/>
              </a:lnSpc>
              <a:spcAft>
                <a:spcPts val="400"/>
              </a:spcAft>
              <a:buClr>
                <a:srgbClr val="1f2937"/>
              </a:buClr>
              <a:buFont typeface="Symbol" charset="2"/>
              <a:buChar char=""/>
              <a:tabLst>
                <a:tab algn="l" pos="0"/>
              </a:tabLst>
            </a:pPr>
            <a:r>
              <a:rPr b="0" lang="en-US" sz="1250" spc="-1" strike="noStrike">
                <a:solidFill>
                  <a:srgbClr val="1f2937"/>
                </a:solidFill>
                <a:latin typeface="Calibri"/>
                <a:ea typeface="Calibri"/>
              </a:rPr>
              <a:t>N LOW −18 kg/ha</a:t>
            </a:r>
            <a:endParaRPr b="0" lang="en-US" sz="1250" spc="-1" strike="noStrike">
              <a:solidFill>
                <a:srgbClr val="000000"/>
              </a:solidFill>
              <a:latin typeface="Arial"/>
            </a:endParaRPr>
          </a:p>
          <a:p>
            <a:pPr marL="343080" indent="-343080" defTabSz="914400">
              <a:lnSpc>
                <a:spcPct val="100000"/>
              </a:lnSpc>
              <a:spcAft>
                <a:spcPts val="400"/>
              </a:spcAft>
              <a:buClr>
                <a:srgbClr val="1f2937"/>
              </a:buClr>
              <a:buFont typeface="Symbol" charset="2"/>
              <a:buChar char=""/>
              <a:tabLst>
                <a:tab algn="l" pos="0"/>
              </a:tabLst>
            </a:pPr>
            <a:r>
              <a:rPr b="0" lang="en-US" sz="1250" spc="-1" strike="noStrike">
                <a:solidFill>
                  <a:srgbClr val="1f2937"/>
                </a:solidFill>
                <a:latin typeface="Calibri"/>
                <a:ea typeface="Calibri"/>
              </a:rPr>
              <a:t>P LOW −12 kg/ha</a:t>
            </a:r>
            <a:endParaRPr b="0" lang="en-US" sz="1250" spc="-1" strike="noStrike">
              <a:solidFill>
                <a:srgbClr val="000000"/>
              </a:solidFill>
              <a:latin typeface="Arial"/>
            </a:endParaRPr>
          </a:p>
          <a:p>
            <a:pPr marL="343080" indent="-343080" defTabSz="914400">
              <a:lnSpc>
                <a:spcPct val="100000"/>
              </a:lnSpc>
              <a:spcAft>
                <a:spcPts val="400"/>
              </a:spcAft>
              <a:buClr>
                <a:srgbClr val="1f2937"/>
              </a:buClr>
              <a:buFont typeface="Symbol" charset="2"/>
              <a:buChar char=""/>
              <a:tabLst>
                <a:tab algn="l" pos="0"/>
              </a:tabLst>
            </a:pPr>
            <a:r>
              <a:rPr b="0" lang="en-US" sz="1250" spc="-1" strike="noStrike">
                <a:solidFill>
                  <a:srgbClr val="1f2937"/>
                </a:solidFill>
                <a:latin typeface="Calibri"/>
                <a:ea typeface="Calibri"/>
              </a:rPr>
              <a:t>K HIGH — reduce dose</a:t>
            </a:r>
            <a:endParaRPr b="0" lang="en-US" sz="1250" spc="-1" strike="noStrike">
              <a:solidFill>
                <a:srgbClr val="000000"/>
              </a:solidFill>
              <a:latin typeface="Arial"/>
            </a:endParaRPr>
          </a:p>
          <a:p>
            <a:pPr marL="343080" indent="-343080" defTabSz="914400">
              <a:lnSpc>
                <a:spcPct val="100000"/>
              </a:lnSpc>
              <a:spcAft>
                <a:spcPts val="400"/>
              </a:spcAft>
              <a:buClr>
                <a:srgbClr val="1f2937"/>
              </a:buClr>
              <a:buFont typeface="Symbol" charset="2"/>
              <a:buChar char=""/>
              <a:tabLst>
                <a:tab algn="l" pos="0"/>
              </a:tabLst>
            </a:pPr>
            <a:r>
              <a:rPr b="0" lang="en-US" sz="1250" spc="-1" strike="noStrike">
                <a:solidFill>
                  <a:srgbClr val="1f2937"/>
                </a:solidFill>
                <a:latin typeface="Calibri"/>
                <a:ea typeface="Calibri"/>
              </a:rPr>
              <a:t>pH OK</a:t>
            </a:r>
            <a:endParaRPr b="0" lang="en-US" sz="1250" spc="-1" strike="noStrike">
              <a:solidFill>
                <a:srgbClr val="000000"/>
              </a:solidFill>
              <a:latin typeface="Arial"/>
            </a:endParaRPr>
          </a:p>
          <a:p>
            <a:pPr marL="343080" indent="-343080" defTabSz="914400">
              <a:lnSpc>
                <a:spcPct val="100000"/>
              </a:lnSpc>
              <a:spcAft>
                <a:spcPts val="400"/>
              </a:spcAft>
              <a:buClr>
                <a:srgbClr val="1f2937"/>
              </a:buClr>
              <a:buFont typeface="Symbol" charset="2"/>
              <a:buChar char=""/>
              <a:tabLst>
                <a:tab algn="l" pos="0"/>
              </a:tabLst>
            </a:pPr>
            <a:r>
              <a:rPr b="0" lang="en-US" sz="1250" spc="-1" strike="noStrike">
                <a:solidFill>
                  <a:srgbClr val="1f2937"/>
                </a:solidFill>
                <a:latin typeface="Calibri"/>
                <a:ea typeface="Calibri"/>
              </a:rPr>
              <a:t>Source label: SFRI Punjab Guide-V</a:t>
            </a:r>
            <a:endParaRPr b="0" lang="en-US" sz="1250" spc="-1" strike="noStrike">
              <a:solidFill>
                <a:srgbClr val="000000"/>
              </a:solidFill>
              <a:latin typeface="Arial"/>
            </a:endParaRPr>
          </a:p>
        </p:txBody>
      </p:sp>
      <p:sp>
        <p:nvSpPr>
          <p:cNvPr id="54" name="Text 6"/>
          <p:cNvSpPr/>
          <p:nvPr/>
        </p:nvSpPr>
        <p:spPr>
          <a:xfrm>
            <a:off x="457200" y="4114800"/>
            <a:ext cx="8229240" cy="731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14532d"/>
                </a:solidFill>
                <a:latin typeface="Calibri"/>
                <a:ea typeface="Calibri"/>
              </a:rPr>
              <a:t>“</a:t>
            </a:r>
            <a:r>
              <a:rPr b="1" lang="en-US" sz="1300" spc="-1" strike="noStrike">
                <a:solidFill>
                  <a:srgbClr val="14532d"/>
                </a:solidFill>
                <a:latin typeface="Calibri"/>
                <a:ea typeface="Calibri"/>
              </a:rPr>
              <a:t>K high, reduce dose” — a system that can tell a farmer not to buy something is not selling him anything.</a:t>
            </a:r>
            <a:endParaRPr b="0" lang="en-US" sz="1300" spc="-1" strike="noStrike">
              <a:solidFill>
                <a:srgbClr val="000000"/>
              </a:solidFill>
              <a:latin typeface="Arial"/>
            </a:endParaRPr>
          </a:p>
        </p:txBody>
      </p:sp>
    </p:spTree>
  </p:cSld>
  <p:transition spd="slow">
    <p:fade thruBlk="true"/>
  </p:transition>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ee"/>
        </a:solidFill>
      </p:bgPr>
    </p:bg>
    <p:spTree>
      <p:nvGrpSpPr>
        <p:cNvPr id="1" name=""/>
        <p:cNvGrpSpPr/>
        <p:nvPr/>
      </p:nvGrpSpPr>
      <p:grpSpPr>
        <a:xfrm>
          <a:off x="0" y="0"/>
          <a:ext cx="0" cy="0"/>
          <a:chOff x="0" y="0"/>
          <a:chExt cx="0" cy="0"/>
        </a:xfrm>
      </p:grpSpPr>
      <p:sp>
        <p:nvSpPr>
          <p:cNvPr id="55" name="Shape 0"/>
          <p:cNvSpPr/>
          <p:nvPr/>
        </p:nvSpPr>
        <p:spPr>
          <a:xfrm>
            <a:off x="0" y="0"/>
            <a:ext cx="9143640" cy="776880"/>
          </a:xfrm>
          <a:prstGeom prst="rect">
            <a:avLst/>
          </a:prstGeom>
          <a:solidFill>
            <a:srgbClr val="14532d"/>
          </a:solidFill>
          <a:ln w="12600">
            <a:solidFill>
              <a:srgbClr val="14532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 name="Text 1"/>
          <p:cNvSpPr/>
          <p:nvPr/>
        </p:nvSpPr>
        <p:spPr>
          <a:xfrm>
            <a:off x="457200" y="0"/>
            <a:ext cx="822924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200" spc="-1" strike="noStrike">
                <a:solidFill>
                  <a:srgbClr val="ffffff"/>
                </a:solidFill>
                <a:latin typeface="Calibri"/>
                <a:ea typeface="Calibri"/>
              </a:rPr>
              <a:t>Every number carries its citation</a:t>
            </a:r>
            <a:endParaRPr b="0" lang="en-US" sz="2200" spc="-1" strike="noStrike">
              <a:solidFill>
                <a:srgbClr val="000000"/>
              </a:solidFill>
              <a:latin typeface="Arial"/>
            </a:endParaRPr>
          </a:p>
        </p:txBody>
      </p:sp>
      <p:sp>
        <p:nvSpPr>
          <p:cNvPr id="57" name="Text 2"/>
          <p:cNvSpPr/>
          <p:nvPr/>
        </p:nvSpPr>
        <p:spPr>
          <a:xfrm>
            <a:off x="457200" y="868680"/>
            <a:ext cx="82292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14532d"/>
                </a:solidFill>
                <a:latin typeface="Calibri"/>
                <a:ea typeface="Calibri"/>
              </a:rPr>
              <a:t>Published: </a:t>
            </a:r>
            <a:r>
              <a:rPr b="0" lang="en-US" sz="1100" spc="-1" strike="noStrike">
                <a:solidFill>
                  <a:srgbClr val="1f2937"/>
                </a:solidFill>
                <a:latin typeface="Calibri"/>
                <a:ea typeface="Calibri"/>
              </a:rPr>
              <a:t>copied from a named public source — open it, find the number.   </a:t>
            </a:r>
            <a:r>
              <a:rPr b="1" lang="en-US" sz="1100" spc="-1" strike="noStrike">
                <a:solidFill>
                  <a:srgbClr val="14532d"/>
                </a:solidFill>
                <a:latin typeface="Calibri"/>
                <a:ea typeface="Calibri"/>
              </a:rPr>
              <a:t>Calculated: </a:t>
            </a:r>
            <a:r>
              <a:rPr b="0" lang="en-US" sz="1100" spc="-1" strike="noStrike">
                <a:solidFill>
                  <a:srgbClr val="1f2937"/>
                </a:solidFill>
                <a:latin typeface="Calibri"/>
                <a:ea typeface="Calibri"/>
              </a:rPr>
              <a:t>a published method on a published figure — read the method, check the arithmetic.</a:t>
            </a:r>
            <a:endParaRPr b="0" lang="en-US" sz="1100" spc="-1" strike="noStrike">
              <a:solidFill>
                <a:srgbClr val="000000"/>
              </a:solidFill>
              <a:latin typeface="Arial"/>
            </a:endParaRPr>
          </a:p>
        </p:txBody>
      </p:sp>
      <p:graphicFrame>
        <p:nvGraphicFramePr>
          <p:cNvPr id="58" name="Table 0"/>
          <p:cNvGraphicFramePr/>
          <p:nvPr/>
        </p:nvGraphicFramePr>
        <p:xfrm>
          <a:off x="457200" y="1371600"/>
          <a:ext cx="8229240" cy="2377800"/>
        </p:xfrm>
        <a:graphic>
          <a:graphicData uri="http://schemas.openxmlformats.org/drawingml/2006/table">
            <a:tbl>
              <a:tblPr/>
              <a:tblGrid>
                <a:gridCol w="457200"/>
                <a:gridCol w="2926080"/>
                <a:gridCol w="4846320"/>
              </a:tblGrid>
              <a:tr h="0">
                <a:tc>
                  <a:txBody>
                    <a:bodyPr lIns="45720" rIns="45720" anchor="ctr">
                      <a:noAutofit/>
                    </a:bodyPr>
                    <a:p>
                      <a:pPr defTabSz="914400">
                        <a:lnSpc>
                          <a:spcPct val="100000"/>
                        </a:lnSpc>
                        <a:tabLst>
                          <a:tab algn="l" pos="0"/>
                        </a:tabLst>
                      </a:pPr>
                      <a:r>
                        <a:rPr b="1" lang="en-US" sz="1000" spc="-1" strike="noStrike">
                          <a:solidFill>
                            <a:srgbClr val="ffffff"/>
                          </a:solidFill>
                          <a:latin typeface="Calibri"/>
                          <a:ea typeface="Calibri"/>
                        </a:rPr>
                        <a:t>#</a:t>
                      </a:r>
                      <a:endParaRPr b="0" lang="en-US" sz="1000" spc="-1" strike="noStrike">
                        <a:solidFill>
                          <a:srgbClr val="ffffff"/>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14532d"/>
                    </a:solidFill>
                  </a:tcPr>
                </a:tc>
                <a:tc>
                  <a:txBody>
                    <a:bodyPr lIns="45720" rIns="45720" anchor="ctr">
                      <a:noAutofit/>
                    </a:bodyPr>
                    <a:p>
                      <a:pPr defTabSz="914400">
                        <a:lnSpc>
                          <a:spcPct val="100000"/>
                        </a:lnSpc>
                        <a:tabLst>
                          <a:tab algn="l" pos="0"/>
                        </a:tabLst>
                      </a:pPr>
                      <a:r>
                        <a:rPr b="1" lang="en-US" sz="1000" spc="-1" strike="noStrike">
                          <a:solidFill>
                            <a:srgbClr val="ffffff"/>
                          </a:solidFill>
                          <a:latin typeface="Calibri"/>
                          <a:ea typeface="Calibri"/>
                        </a:rPr>
                        <a:t>Source</a:t>
                      </a:r>
                      <a:endParaRPr b="0" lang="en-US" sz="1000" spc="-1" strike="noStrike">
                        <a:solidFill>
                          <a:srgbClr val="ffffff"/>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14532d"/>
                    </a:solidFill>
                  </a:tcPr>
                </a:tc>
                <a:tc>
                  <a:txBody>
                    <a:bodyPr lIns="45720" rIns="45720" anchor="ctr">
                      <a:noAutofit/>
                    </a:bodyPr>
                    <a:p>
                      <a:pPr defTabSz="914400">
                        <a:lnSpc>
                          <a:spcPct val="100000"/>
                        </a:lnSpc>
                        <a:tabLst>
                          <a:tab algn="l" pos="0"/>
                        </a:tabLst>
                      </a:pPr>
                      <a:r>
                        <a:rPr b="1" lang="en-US" sz="1000" spc="-1" strike="noStrike">
                          <a:solidFill>
                            <a:srgbClr val="ffffff"/>
                          </a:solidFill>
                          <a:latin typeface="Calibri"/>
                          <a:ea typeface="Calibri"/>
                        </a:rPr>
                        <a:t>What we take from it</a:t>
                      </a:r>
                      <a:endParaRPr b="0" lang="en-US" sz="1000" spc="-1" strike="noStrike">
                        <a:solidFill>
                          <a:srgbClr val="ffffff"/>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14532d"/>
                    </a:solidFill>
                  </a:tcPr>
                </a:tc>
              </a:tr>
              <a:tr h="0">
                <a:tc>
                  <a:txBody>
                    <a:bodyPr lIns="45720" rIns="45720" anchor="ctr">
                      <a:noAutofit/>
                    </a:bodyPr>
                    <a:p>
                      <a:pPr defTabSz="914400">
                        <a:lnSpc>
                          <a:spcPct val="100000"/>
                        </a:lnSpc>
                        <a:tabLst>
                          <a:tab algn="l" pos="0"/>
                        </a:tabLst>
                      </a:pPr>
                      <a:r>
                        <a:rPr b="0" lang="en-US" sz="1000" spc="-1" strike="noStrike">
                          <a:solidFill>
                            <a:srgbClr val="1f2937"/>
                          </a:solidFill>
                          <a:latin typeface="Calibri"/>
                          <a:ea typeface="Calibri"/>
                        </a:rPr>
                        <a:t>1</a:t>
                      </a:r>
                      <a:endParaRPr b="0" lang="en-US" sz="10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ffffff"/>
                    </a:solidFill>
                  </a:tcPr>
                </a:tc>
                <a:tc>
                  <a:txBody>
                    <a:bodyPr lIns="45720" rIns="45720" anchor="ctr">
                      <a:noAutofit/>
                    </a:bodyPr>
                    <a:p>
                      <a:pPr defTabSz="914400">
                        <a:lnSpc>
                          <a:spcPct val="100000"/>
                        </a:lnSpc>
                        <a:tabLst>
                          <a:tab algn="l" pos="0"/>
                        </a:tabLst>
                      </a:pPr>
                      <a:r>
                        <a:rPr b="0" lang="en-US" sz="1000" spc="-1" strike="noStrike">
                          <a:solidFill>
                            <a:srgbClr val="1f2937"/>
                          </a:solidFill>
                          <a:latin typeface="Calibri"/>
                          <a:ea typeface="Calibri"/>
                        </a:rPr>
                        <a:t>SFRI Punjab — Guide-V</a:t>
                      </a:r>
                      <a:endParaRPr b="0" lang="en-US" sz="10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ffffff"/>
                    </a:solidFill>
                  </a:tcPr>
                </a:tc>
                <a:tc>
                  <a:txBody>
                    <a:bodyPr lIns="45720" rIns="45720" anchor="ctr">
                      <a:noAutofit/>
                    </a:bodyPr>
                    <a:p>
                      <a:pPr defTabSz="914400">
                        <a:lnSpc>
                          <a:spcPct val="100000"/>
                        </a:lnSpc>
                        <a:tabLst>
                          <a:tab algn="l" pos="0"/>
                        </a:tabLst>
                      </a:pPr>
                      <a:r>
                        <a:rPr b="0" lang="en-US" sz="1000" spc="-1" strike="noStrike">
                          <a:solidFill>
                            <a:srgbClr val="1f2937"/>
                          </a:solidFill>
                          <a:latin typeface="Calibri"/>
                          <a:ea typeface="Calibri"/>
                        </a:rPr>
                        <a:t>N-P-K target ranges per soil type; the recommendation method</a:t>
                      </a:r>
                      <a:endParaRPr b="0" lang="en-US" sz="10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ffffff"/>
                    </a:solidFill>
                  </a:tcPr>
                </a:tc>
              </a:tr>
              <a:tr h="0">
                <a:tc>
                  <a:txBody>
                    <a:bodyPr lIns="45720" rIns="45720" anchor="ctr">
                      <a:noAutofit/>
                    </a:bodyPr>
                    <a:p>
                      <a:pPr defTabSz="914400">
                        <a:lnSpc>
                          <a:spcPct val="100000"/>
                        </a:lnSpc>
                        <a:tabLst>
                          <a:tab algn="l" pos="0"/>
                        </a:tabLst>
                      </a:pPr>
                      <a:r>
                        <a:rPr b="0" lang="en-US" sz="1000" spc="-1" strike="noStrike">
                          <a:solidFill>
                            <a:srgbClr val="1f2937"/>
                          </a:solidFill>
                          <a:latin typeface="Calibri"/>
                          <a:ea typeface="Calibri"/>
                        </a:rPr>
                        <a:t>2</a:t>
                      </a:r>
                      <a:endParaRPr b="0" lang="en-US" sz="10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eef2e6"/>
                    </a:solidFill>
                  </a:tcPr>
                </a:tc>
                <a:tc>
                  <a:txBody>
                    <a:bodyPr lIns="45720" rIns="45720" anchor="ctr">
                      <a:noAutofit/>
                    </a:bodyPr>
                    <a:p>
                      <a:pPr defTabSz="914400">
                        <a:lnSpc>
                          <a:spcPct val="100000"/>
                        </a:lnSpc>
                        <a:tabLst>
                          <a:tab algn="l" pos="0"/>
                        </a:tabLst>
                      </a:pPr>
                      <a:r>
                        <a:rPr b="0" lang="en-US" sz="1000" spc="-1" strike="noStrike">
                          <a:solidFill>
                            <a:srgbClr val="1f2937"/>
                          </a:solidFill>
                          <a:latin typeface="Calibri"/>
                          <a:ea typeface="Calibri"/>
                        </a:rPr>
                        <a:t>PCPA Cotton Book</a:t>
                      </a:r>
                      <a:endParaRPr b="0" lang="en-US" sz="10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eef2e6"/>
                    </a:solidFill>
                  </a:tcPr>
                </a:tc>
                <a:tc>
                  <a:txBody>
                    <a:bodyPr lIns="45720" rIns="45720" anchor="ctr">
                      <a:noAutofit/>
                    </a:bodyPr>
                    <a:p>
                      <a:pPr defTabSz="914400">
                        <a:lnSpc>
                          <a:spcPct val="100000"/>
                        </a:lnSpc>
                        <a:tabLst>
                          <a:tab algn="l" pos="0"/>
                        </a:tabLst>
                      </a:pPr>
                      <a:r>
                        <a:rPr b="0" lang="en-US" sz="1000" spc="-1" strike="noStrike">
                          <a:solidFill>
                            <a:srgbClr val="1f2937"/>
                          </a:solidFill>
                          <a:latin typeface="Calibri"/>
                          <a:ea typeface="Calibri"/>
                        </a:rPr>
                        <a:t>Per-acre cost breakdown; 2.35 / 1.04 bag validation figure</a:t>
                      </a:r>
                      <a:endParaRPr b="0" lang="en-US" sz="10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eef2e6"/>
                    </a:solidFill>
                  </a:tcPr>
                </a:tc>
              </a:tr>
              <a:tr h="0">
                <a:tc>
                  <a:txBody>
                    <a:bodyPr lIns="45720" rIns="45720" anchor="ctr">
                      <a:noAutofit/>
                    </a:bodyPr>
                    <a:p>
                      <a:pPr defTabSz="914400">
                        <a:lnSpc>
                          <a:spcPct val="100000"/>
                        </a:lnSpc>
                        <a:tabLst>
                          <a:tab algn="l" pos="0"/>
                        </a:tabLst>
                      </a:pPr>
                      <a:r>
                        <a:rPr b="0" lang="en-US" sz="1000" spc="-1" strike="noStrike">
                          <a:solidFill>
                            <a:srgbClr val="1f2937"/>
                          </a:solidFill>
                          <a:latin typeface="Calibri"/>
                          <a:ea typeface="Calibri"/>
                        </a:rPr>
                        <a:t>3</a:t>
                      </a:r>
                      <a:endParaRPr b="0" lang="en-US" sz="10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ffffff"/>
                    </a:solidFill>
                  </a:tcPr>
                </a:tc>
                <a:tc>
                  <a:txBody>
                    <a:bodyPr lIns="45720" rIns="45720" anchor="ctr">
                      <a:noAutofit/>
                    </a:bodyPr>
                    <a:p>
                      <a:pPr defTabSz="914400">
                        <a:lnSpc>
                          <a:spcPct val="100000"/>
                        </a:lnSpc>
                        <a:tabLst>
                          <a:tab algn="l" pos="0"/>
                        </a:tabLst>
                      </a:pPr>
                      <a:r>
                        <a:rPr b="0" lang="en-US" sz="1000" spc="-1" strike="noStrike">
                          <a:solidFill>
                            <a:srgbClr val="1f2937"/>
                          </a:solidFill>
                          <a:latin typeface="Calibri"/>
                          <a:ea typeface="Calibri"/>
                        </a:rPr>
                        <a:t>PAU Package of Practices</a:t>
                      </a:r>
                      <a:endParaRPr b="0" lang="en-US" sz="10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ffffff"/>
                    </a:solidFill>
                  </a:tcPr>
                </a:tc>
                <a:tc>
                  <a:txBody>
                    <a:bodyPr lIns="45720" rIns="45720" anchor="ctr">
                      <a:noAutofit/>
                    </a:bodyPr>
                    <a:p>
                      <a:pPr defTabSz="914400">
                        <a:lnSpc>
                          <a:spcPct val="100000"/>
                        </a:lnSpc>
                        <a:tabLst>
                          <a:tab algn="l" pos="0"/>
                        </a:tabLst>
                      </a:pPr>
                      <a:r>
                        <a:rPr b="0" lang="en-US" sz="1000" spc="-1" strike="noStrike">
                          <a:solidFill>
                            <a:srgbClr val="1f2937"/>
                          </a:solidFill>
                          <a:latin typeface="Calibri"/>
                          <a:ea typeface="Calibri"/>
                        </a:rPr>
                        <a:t>Seed rates, varieties, sowing windows, district yield bands</a:t>
                      </a:r>
                      <a:endParaRPr b="0" lang="en-US" sz="10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ffffff"/>
                    </a:solidFill>
                  </a:tcPr>
                </a:tc>
              </a:tr>
              <a:tr h="0">
                <a:tc>
                  <a:txBody>
                    <a:bodyPr lIns="45720" rIns="45720" anchor="ctr">
                      <a:noAutofit/>
                    </a:bodyPr>
                    <a:p>
                      <a:pPr defTabSz="914400">
                        <a:lnSpc>
                          <a:spcPct val="100000"/>
                        </a:lnSpc>
                        <a:tabLst>
                          <a:tab algn="l" pos="0"/>
                        </a:tabLst>
                      </a:pPr>
                      <a:r>
                        <a:rPr b="0" lang="en-US" sz="1000" spc="-1" strike="noStrike">
                          <a:solidFill>
                            <a:srgbClr val="1f2937"/>
                          </a:solidFill>
                          <a:latin typeface="Calibri"/>
                          <a:ea typeface="Calibri"/>
                        </a:rPr>
                        <a:t>4</a:t>
                      </a:r>
                      <a:endParaRPr b="0" lang="en-US" sz="10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eef2e6"/>
                    </a:solidFill>
                  </a:tcPr>
                </a:tc>
                <a:tc>
                  <a:txBody>
                    <a:bodyPr lIns="45720" rIns="45720" anchor="ctr">
                      <a:noAutofit/>
                    </a:bodyPr>
                    <a:p>
                      <a:pPr defTabSz="914400">
                        <a:lnSpc>
                          <a:spcPct val="100000"/>
                        </a:lnSpc>
                        <a:tabLst>
                          <a:tab algn="l" pos="0"/>
                        </a:tabLst>
                      </a:pPr>
                      <a:r>
                        <a:rPr b="0" lang="en-US" sz="1000" spc="-1" strike="noStrike">
                          <a:solidFill>
                            <a:srgbClr val="1f2937"/>
                          </a:solidFill>
                          <a:latin typeface="Calibri"/>
                          <a:ea typeface="Calibri"/>
                        </a:rPr>
                        <a:t>FAO Irrigation &amp; Drainage Paper 56</a:t>
                      </a:r>
                      <a:endParaRPr b="0" lang="en-US" sz="10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eef2e6"/>
                    </a:solidFill>
                  </a:tcPr>
                </a:tc>
                <a:tc>
                  <a:txBody>
                    <a:bodyPr lIns="45720" rIns="45720" anchor="ctr">
                      <a:noAutofit/>
                    </a:bodyPr>
                    <a:p>
                      <a:pPr defTabSz="914400">
                        <a:lnSpc>
                          <a:spcPct val="100000"/>
                        </a:lnSpc>
                        <a:tabLst>
                          <a:tab algn="l" pos="0"/>
                        </a:tabLst>
                      </a:pPr>
                      <a:r>
                        <a:rPr b="0" lang="en-US" sz="1000" spc="-1" strike="noStrike">
                          <a:solidFill>
                            <a:srgbClr val="1f2937"/>
                          </a:solidFill>
                          <a:latin typeface="Calibri"/>
                          <a:ea typeface="Calibri"/>
                        </a:rPr>
                        <a:t>Crop coefficients (Kc), ETc method, effective rainfall</a:t>
                      </a:r>
                      <a:endParaRPr b="0" lang="en-US" sz="10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eef2e6"/>
                    </a:solidFill>
                  </a:tcPr>
                </a:tc>
              </a:tr>
              <a:tr h="0">
                <a:tc>
                  <a:txBody>
                    <a:bodyPr lIns="45720" rIns="45720" anchor="ctr">
                      <a:noAutofit/>
                    </a:bodyPr>
                    <a:p>
                      <a:pPr defTabSz="914400">
                        <a:lnSpc>
                          <a:spcPct val="100000"/>
                        </a:lnSpc>
                        <a:tabLst>
                          <a:tab algn="l" pos="0"/>
                        </a:tabLst>
                      </a:pPr>
                      <a:r>
                        <a:rPr b="0" lang="en-US" sz="1000" spc="-1" strike="noStrike">
                          <a:solidFill>
                            <a:srgbClr val="1f2937"/>
                          </a:solidFill>
                          <a:latin typeface="Calibri"/>
                          <a:ea typeface="Calibri"/>
                        </a:rPr>
                        <a:t>5</a:t>
                      </a:r>
                      <a:endParaRPr b="0" lang="en-US" sz="10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ffffff"/>
                    </a:solidFill>
                  </a:tcPr>
                </a:tc>
                <a:tc>
                  <a:txBody>
                    <a:bodyPr lIns="45720" rIns="45720" anchor="ctr">
                      <a:noAutofit/>
                    </a:bodyPr>
                    <a:p>
                      <a:pPr defTabSz="914400">
                        <a:lnSpc>
                          <a:spcPct val="100000"/>
                        </a:lnSpc>
                        <a:tabLst>
                          <a:tab algn="l" pos="0"/>
                        </a:tabLst>
                      </a:pPr>
                      <a:r>
                        <a:rPr b="0" lang="en-US" sz="1000" spc="-1" strike="noStrike">
                          <a:solidFill>
                            <a:srgbClr val="1f2937"/>
                          </a:solidFill>
                          <a:latin typeface="Calibri"/>
                          <a:ea typeface="Calibri"/>
                        </a:rPr>
                        <a:t>NFDC Fertiliser Statistics</a:t>
                      </a:r>
                      <a:endParaRPr b="0" lang="en-US" sz="10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ffffff"/>
                    </a:solidFill>
                  </a:tcPr>
                </a:tc>
                <a:tc>
                  <a:txBody>
                    <a:bodyPr lIns="45720" rIns="45720" anchor="ctr">
                      <a:noAutofit/>
                    </a:bodyPr>
                    <a:p>
                      <a:pPr defTabSz="914400">
                        <a:lnSpc>
                          <a:spcPct val="100000"/>
                        </a:lnSpc>
                        <a:tabLst>
                          <a:tab algn="l" pos="0"/>
                        </a:tabLst>
                      </a:pPr>
                      <a:r>
                        <a:rPr b="0" lang="en-US" sz="1000" spc="-1" strike="noStrike">
                          <a:solidFill>
                            <a:srgbClr val="1f2937"/>
                          </a:solidFill>
                          <a:latin typeface="Calibri"/>
                          <a:ea typeface="Calibri"/>
                        </a:rPr>
                        <a:t>Retail prices of urea, DAP, MOP</a:t>
                      </a:r>
                      <a:endParaRPr b="0" lang="en-US" sz="10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ffffff"/>
                    </a:solidFill>
                  </a:tcPr>
                </a:tc>
              </a:tr>
              <a:tr h="0">
                <a:tc>
                  <a:txBody>
                    <a:bodyPr lIns="45720" rIns="45720" anchor="ctr">
                      <a:noAutofit/>
                    </a:bodyPr>
                    <a:p>
                      <a:pPr defTabSz="914400">
                        <a:lnSpc>
                          <a:spcPct val="100000"/>
                        </a:lnSpc>
                        <a:tabLst>
                          <a:tab algn="l" pos="0"/>
                        </a:tabLst>
                      </a:pPr>
                      <a:r>
                        <a:rPr b="0" lang="en-US" sz="1000" spc="-1" strike="noStrike">
                          <a:solidFill>
                            <a:srgbClr val="1f2937"/>
                          </a:solidFill>
                          <a:latin typeface="Calibri"/>
                          <a:ea typeface="Calibri"/>
                        </a:rPr>
                        <a:t>6</a:t>
                      </a:r>
                      <a:endParaRPr b="0" lang="en-US" sz="10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eef2e6"/>
                    </a:solidFill>
                  </a:tcPr>
                </a:tc>
                <a:tc>
                  <a:txBody>
                    <a:bodyPr lIns="45720" rIns="45720" anchor="ctr">
                      <a:noAutofit/>
                    </a:bodyPr>
                    <a:p>
                      <a:pPr defTabSz="914400">
                        <a:lnSpc>
                          <a:spcPct val="100000"/>
                        </a:lnSpc>
                        <a:tabLst>
                          <a:tab algn="l" pos="0"/>
                        </a:tabLst>
                      </a:pPr>
                      <a:r>
                        <a:rPr b="0" lang="en-US" sz="1000" spc="-1" strike="noStrike">
                          <a:solidFill>
                            <a:srgbClr val="1f2937"/>
                          </a:solidFill>
                          <a:latin typeface="Calibri"/>
                          <a:ea typeface="Calibri"/>
                        </a:rPr>
                        <a:t>World Bank Climate Portal / NASA POWER</a:t>
                      </a:r>
                      <a:endParaRPr b="0" lang="en-US" sz="10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eef2e6"/>
                    </a:solidFill>
                  </a:tcPr>
                </a:tc>
                <a:tc>
                  <a:txBody>
                    <a:bodyPr lIns="45720" rIns="45720" anchor="ctr">
                      <a:noAutofit/>
                    </a:bodyPr>
                    <a:p>
                      <a:pPr defTabSz="914400">
                        <a:lnSpc>
                          <a:spcPct val="100000"/>
                        </a:lnSpc>
                        <a:tabLst>
                          <a:tab algn="l" pos="0"/>
                        </a:tabLst>
                      </a:pPr>
                      <a:r>
                        <a:rPr b="0" lang="en-US" sz="1000" spc="-1" strike="noStrike">
                          <a:solidFill>
                            <a:srgbClr val="1f2937"/>
                          </a:solidFill>
                          <a:latin typeface="Calibri"/>
                          <a:ea typeface="Calibri"/>
                        </a:rPr>
                        <a:t>Monthly temperature, rainfall, ETo normals 1991–2020</a:t>
                      </a:r>
                      <a:endParaRPr b="0" lang="en-US" sz="10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eef2e6"/>
                    </a:solidFill>
                  </a:tcPr>
                </a:tc>
              </a:tr>
              <a:tr h="0">
                <a:tc>
                  <a:txBody>
                    <a:bodyPr lIns="45720" rIns="45720" anchor="ctr">
                      <a:noAutofit/>
                    </a:bodyPr>
                    <a:p>
                      <a:pPr defTabSz="914400">
                        <a:lnSpc>
                          <a:spcPct val="100000"/>
                        </a:lnSpc>
                        <a:tabLst>
                          <a:tab algn="l" pos="0"/>
                        </a:tabLst>
                      </a:pPr>
                      <a:r>
                        <a:rPr b="0" lang="en-US" sz="1000" spc="-1" strike="noStrike">
                          <a:solidFill>
                            <a:srgbClr val="1f2937"/>
                          </a:solidFill>
                          <a:latin typeface="Calibri"/>
                          <a:ea typeface="Calibri"/>
                        </a:rPr>
                        <a:t>7</a:t>
                      </a:r>
                      <a:endParaRPr b="0" lang="en-US" sz="10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ffffff"/>
                    </a:solidFill>
                  </a:tcPr>
                </a:tc>
                <a:tc>
                  <a:txBody>
                    <a:bodyPr lIns="45720" rIns="45720" anchor="ctr">
                      <a:noAutofit/>
                    </a:bodyPr>
                    <a:p>
                      <a:pPr defTabSz="914400">
                        <a:lnSpc>
                          <a:spcPct val="100000"/>
                        </a:lnSpc>
                        <a:tabLst>
                          <a:tab algn="l" pos="0"/>
                        </a:tabLst>
                      </a:pPr>
                      <a:r>
                        <a:rPr b="0" lang="en-US" sz="1000" spc="-1" strike="noStrike">
                          <a:solidFill>
                            <a:srgbClr val="1f2937"/>
                          </a:solidFill>
                          <a:latin typeface="Calibri"/>
                          <a:ea typeface="Calibri"/>
                        </a:rPr>
                        <a:t>Punjab &amp; Sindh Agriculture Depts</a:t>
                      </a:r>
                      <a:endParaRPr b="0" lang="en-US" sz="10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ffffff"/>
                    </a:solidFill>
                  </a:tcPr>
                </a:tc>
                <a:tc>
                  <a:txBody>
                    <a:bodyPr lIns="45720" rIns="45720" anchor="ctr">
                      <a:noAutofit/>
                    </a:bodyPr>
                    <a:p>
                      <a:pPr defTabSz="914400">
                        <a:lnSpc>
                          <a:spcPct val="100000"/>
                        </a:lnSpc>
                        <a:tabLst>
                          <a:tab algn="l" pos="0"/>
                        </a:tabLst>
                      </a:pPr>
                      <a:r>
                        <a:rPr b="0" lang="en-US" sz="1000" spc="-1" strike="noStrike">
                          <a:solidFill>
                            <a:srgbClr val="1f2937"/>
                          </a:solidFill>
                          <a:latin typeface="Calibri"/>
                          <a:ea typeface="Calibri"/>
                        </a:rPr>
                        <a:t>District list, crop calendars, soil type distribution</a:t>
                      </a:r>
                      <a:endParaRPr b="0" lang="en-US" sz="10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ffffff"/>
                    </a:solidFill>
                  </a:tcPr>
                </a:tc>
              </a:tr>
              <a:tr h="0">
                <a:tc>
                  <a:txBody>
                    <a:bodyPr lIns="45720" rIns="45720" anchor="ctr">
                      <a:noAutofit/>
                    </a:bodyPr>
                    <a:p>
                      <a:pPr defTabSz="914400">
                        <a:lnSpc>
                          <a:spcPct val="100000"/>
                        </a:lnSpc>
                        <a:tabLst>
                          <a:tab algn="l" pos="0"/>
                        </a:tabLst>
                      </a:pPr>
                      <a:r>
                        <a:rPr b="0" lang="en-US" sz="1000" spc="-1" strike="noStrike">
                          <a:solidFill>
                            <a:srgbClr val="1f2937"/>
                          </a:solidFill>
                          <a:latin typeface="Calibri"/>
                          <a:ea typeface="Calibri"/>
                        </a:rPr>
                        <a:t>8</a:t>
                      </a:r>
                      <a:endParaRPr b="0" lang="en-US" sz="10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eef2e6"/>
                    </a:solidFill>
                  </a:tcPr>
                </a:tc>
                <a:tc>
                  <a:txBody>
                    <a:bodyPr lIns="45720" rIns="45720" anchor="ctr">
                      <a:noAutofit/>
                    </a:bodyPr>
                    <a:p>
                      <a:pPr defTabSz="914400">
                        <a:lnSpc>
                          <a:spcPct val="100000"/>
                        </a:lnSpc>
                        <a:tabLst>
                          <a:tab algn="l" pos="0"/>
                        </a:tabLst>
                      </a:pPr>
                      <a:r>
                        <a:rPr b="0" lang="en-US" sz="1000" spc="-1" strike="noStrike">
                          <a:solidFill>
                            <a:srgbClr val="1f2937"/>
                          </a:solidFill>
                          <a:latin typeface="Calibri"/>
                          <a:ea typeface="Calibri"/>
                        </a:rPr>
                        <a:t>Punjab soil testing laboratories</a:t>
                      </a:r>
                      <a:endParaRPr b="0" lang="en-US" sz="10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eef2e6"/>
                    </a:solidFill>
                  </a:tcPr>
                </a:tc>
                <a:tc>
                  <a:txBody>
                    <a:bodyPr lIns="45720" rIns="45720" anchor="ctr">
                      <a:noAutofit/>
                    </a:bodyPr>
                    <a:p>
                      <a:pPr defTabSz="914400">
                        <a:lnSpc>
                          <a:spcPct val="100000"/>
                        </a:lnSpc>
                        <a:tabLst>
                          <a:tab algn="l" pos="0"/>
                        </a:tabLst>
                      </a:pPr>
                      <a:r>
                        <a:rPr b="0" lang="en-US" sz="1000" spc="-1" strike="noStrike">
                          <a:solidFill>
                            <a:srgbClr val="1f2937"/>
                          </a:solidFill>
                          <a:latin typeface="Calibri"/>
                          <a:ea typeface="Calibri"/>
                        </a:rPr>
                        <a:t>The soil test report the farmer already holds</a:t>
                      </a:r>
                      <a:endParaRPr b="0" lang="en-US" sz="10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eef2e6"/>
                    </a:solidFill>
                  </a:tcPr>
                </a:tc>
              </a:tr>
            </a:tbl>
          </a:graphicData>
        </a:graphic>
      </p:graphicFrame>
    </p:spTree>
  </p:cSld>
  <p:transition spd="slow">
    <p:fade thruBlk="true"/>
  </p:transition>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ee"/>
        </a:solidFill>
      </p:bgPr>
    </p:bg>
    <p:spTree>
      <p:nvGrpSpPr>
        <p:cNvPr id="1" name=""/>
        <p:cNvGrpSpPr/>
        <p:nvPr/>
      </p:nvGrpSpPr>
      <p:grpSpPr>
        <a:xfrm>
          <a:off x="0" y="0"/>
          <a:ext cx="0" cy="0"/>
          <a:chOff x="0" y="0"/>
          <a:chExt cx="0" cy="0"/>
        </a:xfrm>
      </p:grpSpPr>
      <p:sp>
        <p:nvSpPr>
          <p:cNvPr id="59" name="Shape 0"/>
          <p:cNvSpPr/>
          <p:nvPr/>
        </p:nvSpPr>
        <p:spPr>
          <a:xfrm>
            <a:off x="0" y="0"/>
            <a:ext cx="9143640" cy="776880"/>
          </a:xfrm>
          <a:prstGeom prst="rect">
            <a:avLst/>
          </a:prstGeom>
          <a:solidFill>
            <a:srgbClr val="14532d"/>
          </a:solidFill>
          <a:ln w="12600">
            <a:solidFill>
              <a:srgbClr val="14532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0" name="Text 1"/>
          <p:cNvSpPr/>
          <p:nvPr/>
        </p:nvSpPr>
        <p:spPr>
          <a:xfrm>
            <a:off x="457200" y="0"/>
            <a:ext cx="822924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200" spc="-1" strike="noStrike">
                <a:solidFill>
                  <a:srgbClr val="ffffff"/>
                </a:solidFill>
                <a:latin typeface="Calibri"/>
                <a:ea typeface="Calibri"/>
              </a:rPr>
              <a:t>Tech stack, and the reason for each choice</a:t>
            </a:r>
            <a:endParaRPr b="0" lang="en-US" sz="2200" spc="-1" strike="noStrike">
              <a:solidFill>
                <a:srgbClr val="000000"/>
              </a:solidFill>
              <a:latin typeface="Arial"/>
            </a:endParaRPr>
          </a:p>
        </p:txBody>
      </p:sp>
      <p:graphicFrame>
        <p:nvGraphicFramePr>
          <p:cNvPr id="61" name="Table 0"/>
          <p:cNvGraphicFramePr/>
          <p:nvPr/>
        </p:nvGraphicFramePr>
        <p:xfrm>
          <a:off x="457200" y="960120"/>
          <a:ext cx="8229240" cy="2073960"/>
        </p:xfrm>
        <a:graphic>
          <a:graphicData uri="http://schemas.openxmlformats.org/drawingml/2006/table">
            <a:tbl>
              <a:tblPr/>
              <a:tblGrid>
                <a:gridCol w="1280160"/>
                <a:gridCol w="3657600"/>
                <a:gridCol w="3291840"/>
              </a:tblGrid>
              <a:tr h="0">
                <a:tc>
                  <a:txBody>
                    <a:bodyPr lIns="45720" rIns="45720" anchor="ctr">
                      <a:noAutofit/>
                    </a:bodyPr>
                    <a:p>
                      <a:pPr defTabSz="914400">
                        <a:lnSpc>
                          <a:spcPct val="100000"/>
                        </a:lnSpc>
                        <a:tabLst>
                          <a:tab algn="l" pos="0"/>
                        </a:tabLst>
                      </a:pPr>
                      <a:r>
                        <a:rPr b="1" lang="en-US" sz="1100" spc="-1" strike="noStrike">
                          <a:solidFill>
                            <a:srgbClr val="ffffff"/>
                          </a:solidFill>
                          <a:latin typeface="Calibri"/>
                          <a:ea typeface="Calibri"/>
                        </a:rPr>
                        <a:t>Layer</a:t>
                      </a:r>
                      <a:endParaRPr b="0" lang="en-US" sz="1100" spc="-1" strike="noStrike">
                        <a:solidFill>
                          <a:srgbClr val="ffffff"/>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14532d"/>
                    </a:solidFill>
                  </a:tcPr>
                </a:tc>
                <a:tc>
                  <a:txBody>
                    <a:bodyPr lIns="45720" rIns="45720" anchor="ctr">
                      <a:noAutofit/>
                    </a:bodyPr>
                    <a:p>
                      <a:pPr defTabSz="914400">
                        <a:lnSpc>
                          <a:spcPct val="100000"/>
                        </a:lnSpc>
                        <a:tabLst>
                          <a:tab algn="l" pos="0"/>
                        </a:tabLst>
                      </a:pPr>
                      <a:r>
                        <a:rPr b="1" lang="en-US" sz="1100" spc="-1" strike="noStrike">
                          <a:solidFill>
                            <a:srgbClr val="ffffff"/>
                          </a:solidFill>
                          <a:latin typeface="Calibri"/>
                          <a:ea typeface="Calibri"/>
                        </a:rPr>
                        <a:t>Tools (19)</a:t>
                      </a:r>
                      <a:endParaRPr b="0" lang="en-US" sz="1100" spc="-1" strike="noStrike">
                        <a:solidFill>
                          <a:srgbClr val="ffffff"/>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14532d"/>
                    </a:solidFill>
                  </a:tcPr>
                </a:tc>
                <a:tc>
                  <a:txBody>
                    <a:bodyPr lIns="45720" rIns="45720" anchor="ctr">
                      <a:noAutofit/>
                    </a:bodyPr>
                    <a:p>
                      <a:pPr defTabSz="914400">
                        <a:lnSpc>
                          <a:spcPct val="100000"/>
                        </a:lnSpc>
                        <a:tabLst>
                          <a:tab algn="l" pos="0"/>
                        </a:tabLst>
                      </a:pPr>
                      <a:r>
                        <a:rPr b="1" lang="en-US" sz="1100" spc="-1" strike="noStrike">
                          <a:solidFill>
                            <a:srgbClr val="ffffff"/>
                          </a:solidFill>
                          <a:latin typeface="Calibri"/>
                          <a:ea typeface="Calibri"/>
                        </a:rPr>
                        <a:t>Why</a:t>
                      </a:r>
                      <a:endParaRPr b="0" lang="en-US" sz="1100" spc="-1" strike="noStrike">
                        <a:solidFill>
                          <a:srgbClr val="ffffff"/>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14532d"/>
                    </a:solidFill>
                  </a:tcPr>
                </a:tc>
              </a:tr>
              <a:tr h="0">
                <a:tc>
                  <a:txBody>
                    <a:bodyPr lIns="45720" rIns="45720" anchor="ctr">
                      <a:noAutofit/>
                    </a:bodyPr>
                    <a:p>
                      <a:pPr defTabSz="914400">
                        <a:lnSpc>
                          <a:spcPct val="100000"/>
                        </a:lnSpc>
                        <a:tabLst>
                          <a:tab algn="l" pos="0"/>
                        </a:tabLst>
                      </a:pPr>
                      <a:r>
                        <a:rPr b="0" lang="en-US" sz="1100" spc="-1" strike="noStrike">
                          <a:solidFill>
                            <a:srgbClr val="1f2937"/>
                          </a:solidFill>
                          <a:latin typeface="Calibri"/>
                          <a:ea typeface="Calibri"/>
                        </a:rPr>
                        <a:t>Frontend</a:t>
                      </a:r>
                      <a:endParaRPr b="0" lang="en-US" sz="11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ffffff"/>
                    </a:solidFill>
                  </a:tcPr>
                </a:tc>
                <a:tc>
                  <a:txBody>
                    <a:bodyPr lIns="45720" rIns="45720" anchor="ctr">
                      <a:noAutofit/>
                    </a:bodyPr>
                    <a:p>
                      <a:pPr defTabSz="914400">
                        <a:lnSpc>
                          <a:spcPct val="100000"/>
                        </a:lnSpc>
                        <a:tabLst>
                          <a:tab algn="l" pos="0"/>
                        </a:tabLst>
                      </a:pPr>
                      <a:r>
                        <a:rPr b="0" lang="en-US" sz="1100" spc="-1" strike="noStrike">
                          <a:solidFill>
                            <a:srgbClr val="1f2937"/>
                          </a:solidFill>
                          <a:latin typeface="Calibri"/>
                          <a:ea typeface="Calibri"/>
                        </a:rPr>
                        <a:t>React 18, Vite, React Router, Tailwind CSS, Recharts, Fetch API</a:t>
                      </a:r>
                      <a:endParaRPr b="0" lang="en-US" sz="11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ffffff"/>
                    </a:solidFill>
                  </a:tcPr>
                </a:tc>
                <a:tc>
                  <a:txBody>
                    <a:bodyPr lIns="45720" rIns="45720" anchor="ctr">
                      <a:noAutofit/>
                    </a:bodyPr>
                    <a:p>
                      <a:pPr defTabSz="914400">
                        <a:lnSpc>
                          <a:spcPct val="100000"/>
                        </a:lnSpc>
                        <a:tabLst>
                          <a:tab algn="l" pos="0"/>
                        </a:tabLst>
                      </a:pPr>
                      <a:r>
                        <a:rPr b="0" lang="en-US" sz="1100" spc="-1" strike="noStrike">
                          <a:solidFill>
                            <a:srgbClr val="1f2937"/>
                          </a:solidFill>
                          <a:latin typeface="Calibri"/>
                          <a:ea typeface="Calibri"/>
                        </a:rPr>
                        <a:t>Fast start; built-in Radar chart; browser-native fetch</a:t>
                      </a:r>
                      <a:endParaRPr b="0" lang="en-US" sz="11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ffffff"/>
                    </a:solidFill>
                  </a:tcPr>
                </a:tc>
              </a:tr>
              <a:tr h="0">
                <a:tc>
                  <a:txBody>
                    <a:bodyPr lIns="45720" rIns="45720" anchor="ctr">
                      <a:noAutofit/>
                    </a:bodyPr>
                    <a:p>
                      <a:pPr defTabSz="914400">
                        <a:lnSpc>
                          <a:spcPct val="100000"/>
                        </a:lnSpc>
                        <a:tabLst>
                          <a:tab algn="l" pos="0"/>
                        </a:tabLst>
                      </a:pPr>
                      <a:r>
                        <a:rPr b="0" lang="en-US" sz="1100" spc="-1" strike="noStrike">
                          <a:solidFill>
                            <a:srgbClr val="1f2937"/>
                          </a:solidFill>
                          <a:latin typeface="Calibri"/>
                          <a:ea typeface="Calibri"/>
                        </a:rPr>
                        <a:t>Backend</a:t>
                      </a:r>
                      <a:endParaRPr b="0" lang="en-US" sz="11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eef2e6"/>
                    </a:solidFill>
                  </a:tcPr>
                </a:tc>
                <a:tc>
                  <a:txBody>
                    <a:bodyPr lIns="45720" rIns="45720" anchor="ctr">
                      <a:noAutofit/>
                    </a:bodyPr>
                    <a:p>
                      <a:pPr defTabSz="914400">
                        <a:lnSpc>
                          <a:spcPct val="100000"/>
                        </a:lnSpc>
                        <a:tabLst>
                          <a:tab algn="l" pos="0"/>
                        </a:tabLst>
                      </a:pPr>
                      <a:r>
                        <a:rPr b="0" lang="en-US" sz="1100" spc="-1" strike="noStrike">
                          <a:solidFill>
                            <a:srgbClr val="1f2937"/>
                          </a:solidFill>
                          <a:latin typeface="Calibri"/>
                          <a:ea typeface="Calibri"/>
                        </a:rPr>
                        <a:t>Node.js, Express.js</a:t>
                      </a:r>
                      <a:endParaRPr b="0" lang="en-US" sz="11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eef2e6"/>
                    </a:solidFill>
                  </a:tcPr>
                </a:tc>
                <a:tc>
                  <a:txBody>
                    <a:bodyPr lIns="45720" rIns="45720" anchor="ctr">
                      <a:noAutofit/>
                    </a:bodyPr>
                    <a:p>
                      <a:pPr defTabSz="914400">
                        <a:lnSpc>
                          <a:spcPct val="100000"/>
                        </a:lnSpc>
                        <a:tabLst>
                          <a:tab algn="l" pos="0"/>
                        </a:tabLst>
                      </a:pPr>
                      <a:r>
                        <a:rPr b="0" lang="en-US" sz="1100" spc="-1" strike="noStrike">
                          <a:solidFill>
                            <a:srgbClr val="1f2937"/>
                          </a:solidFill>
                          <a:latin typeface="Calibri"/>
                          <a:ea typeface="Calibri"/>
                        </a:rPr>
                        <a:t>Pure MERN, one language</a:t>
                      </a:r>
                      <a:endParaRPr b="0" lang="en-US" sz="11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eef2e6"/>
                    </a:solidFill>
                  </a:tcPr>
                </a:tc>
              </a:tr>
              <a:tr h="0">
                <a:tc>
                  <a:txBody>
                    <a:bodyPr lIns="45720" rIns="45720" anchor="ctr">
                      <a:noAutofit/>
                    </a:bodyPr>
                    <a:p>
                      <a:pPr defTabSz="914400">
                        <a:lnSpc>
                          <a:spcPct val="100000"/>
                        </a:lnSpc>
                        <a:tabLst>
                          <a:tab algn="l" pos="0"/>
                        </a:tabLst>
                      </a:pPr>
                      <a:r>
                        <a:rPr b="0" lang="en-US" sz="1100" spc="-1" strike="noStrike">
                          <a:solidFill>
                            <a:srgbClr val="1f2937"/>
                          </a:solidFill>
                          <a:latin typeface="Calibri"/>
                          <a:ea typeface="Calibri"/>
                        </a:rPr>
                        <a:t>Data</a:t>
                      </a:r>
                      <a:endParaRPr b="0" lang="en-US" sz="11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ffffff"/>
                    </a:solidFill>
                  </a:tcPr>
                </a:tc>
                <a:tc>
                  <a:txBody>
                    <a:bodyPr lIns="45720" rIns="45720" anchor="ctr">
                      <a:noAutofit/>
                    </a:bodyPr>
                    <a:p>
                      <a:pPr defTabSz="914400">
                        <a:lnSpc>
                          <a:spcPct val="100000"/>
                        </a:lnSpc>
                        <a:tabLst>
                          <a:tab algn="l" pos="0"/>
                        </a:tabLst>
                      </a:pPr>
                      <a:r>
                        <a:rPr b="0" lang="en-US" sz="1100" spc="-1" strike="noStrike">
                          <a:solidFill>
                            <a:srgbClr val="1f2937"/>
                          </a:solidFill>
                          <a:latin typeface="Calibri"/>
                          <a:ea typeface="Calibri"/>
                        </a:rPr>
                        <a:t>MongoDB (local), Compass</a:t>
                      </a:r>
                      <a:endParaRPr b="0" lang="en-US" sz="11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ffffff"/>
                    </a:solidFill>
                  </a:tcPr>
                </a:tc>
                <a:tc>
                  <a:txBody>
                    <a:bodyPr lIns="45720" rIns="45720" anchor="ctr">
                      <a:noAutofit/>
                    </a:bodyPr>
                    <a:p>
                      <a:pPr defTabSz="914400">
                        <a:lnSpc>
                          <a:spcPct val="100000"/>
                        </a:lnSpc>
                        <a:tabLst>
                          <a:tab algn="l" pos="0"/>
                        </a:tabLst>
                      </a:pPr>
                      <a:r>
                        <a:rPr b="0" lang="en-US" sz="1100" spc="-1" strike="noStrike">
                          <a:solidFill>
                            <a:srgbClr val="1f2937"/>
                          </a:solidFill>
                          <a:latin typeface="Calibri"/>
                          <a:ea typeface="Calibri"/>
                        </a:rPr>
                        <a:t>Local mongod = offline by construction</a:t>
                      </a:r>
                      <a:endParaRPr b="0" lang="en-US" sz="11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ffffff"/>
                    </a:solidFill>
                  </a:tcPr>
                </a:tc>
              </a:tr>
              <a:tr h="0">
                <a:tc>
                  <a:txBody>
                    <a:bodyPr lIns="45720" rIns="45720" anchor="ctr">
                      <a:noAutofit/>
                    </a:bodyPr>
                    <a:p>
                      <a:pPr defTabSz="914400">
                        <a:lnSpc>
                          <a:spcPct val="100000"/>
                        </a:lnSpc>
                        <a:tabLst>
                          <a:tab algn="l" pos="0"/>
                        </a:tabLst>
                      </a:pPr>
                      <a:r>
                        <a:rPr b="0" lang="en-US" sz="1100" spc="-1" strike="noStrike">
                          <a:solidFill>
                            <a:srgbClr val="1f2937"/>
                          </a:solidFill>
                          <a:latin typeface="Calibri"/>
                          <a:ea typeface="Calibri"/>
                        </a:rPr>
                        <a:t>Auth &amp; safety</a:t>
                      </a:r>
                      <a:endParaRPr b="0" lang="en-US" sz="11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eef2e6"/>
                    </a:solidFill>
                  </a:tcPr>
                </a:tc>
                <a:tc>
                  <a:txBody>
                    <a:bodyPr lIns="45720" rIns="45720" anchor="ctr">
                      <a:noAutofit/>
                    </a:bodyPr>
                    <a:p>
                      <a:pPr defTabSz="914400">
                        <a:lnSpc>
                          <a:spcPct val="100000"/>
                        </a:lnSpc>
                        <a:tabLst>
                          <a:tab algn="l" pos="0"/>
                        </a:tabLst>
                      </a:pPr>
                      <a:r>
                        <a:rPr b="0" lang="en-US" sz="1100" spc="-1" strike="noStrike">
                          <a:solidFill>
                            <a:srgbClr val="1f2937"/>
                          </a:solidFill>
                          <a:latin typeface="Calibri"/>
                          <a:ea typeface="Calibri"/>
                        </a:rPr>
                        <a:t>JWT, Bcrypt, Zod, Cors, Dotenv, Morgan, Nodemon</a:t>
                      </a:r>
                      <a:endParaRPr b="0" lang="en-US" sz="11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eef2e6"/>
                    </a:solidFill>
                  </a:tcPr>
                </a:tc>
                <a:tc>
                  <a:txBody>
                    <a:bodyPr lIns="45720" rIns="45720" anchor="ctr">
                      <a:noAutofit/>
                    </a:bodyPr>
                    <a:p>
                      <a:pPr defTabSz="914400">
                        <a:lnSpc>
                          <a:spcPct val="100000"/>
                        </a:lnSpc>
                        <a:tabLst>
                          <a:tab algn="l" pos="0"/>
                        </a:tabLst>
                      </a:pPr>
                      <a:r>
                        <a:rPr b="0" lang="en-US" sz="1100" spc="-1" strike="noStrike">
                          <a:solidFill>
                            <a:srgbClr val="1f2937"/>
                          </a:solidFill>
                          <a:latin typeface="Calibri"/>
                          <a:ea typeface="Calibri"/>
                        </a:rPr>
                        <a:t>No plain-text passwords; per-user isolation; every input validated</a:t>
                      </a:r>
                      <a:endParaRPr b="0" lang="en-US" sz="11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eef2e6"/>
                    </a:solidFill>
                  </a:tcPr>
                </a:tc>
              </a:tr>
              <a:tr h="0">
                <a:tc>
                  <a:txBody>
                    <a:bodyPr lIns="45720" rIns="45720" anchor="ctr">
                      <a:noAutofit/>
                    </a:bodyPr>
                    <a:p>
                      <a:pPr defTabSz="914400">
                        <a:lnSpc>
                          <a:spcPct val="100000"/>
                        </a:lnSpc>
                        <a:tabLst>
                          <a:tab algn="l" pos="0"/>
                        </a:tabLst>
                      </a:pPr>
                      <a:r>
                        <a:rPr b="0" lang="en-US" sz="1100" spc="-1" strike="noStrike">
                          <a:solidFill>
                            <a:srgbClr val="1f2937"/>
                          </a:solidFill>
                          <a:latin typeface="Calibri"/>
                          <a:ea typeface="Calibri"/>
                        </a:rPr>
                        <a:t>Tooling</a:t>
                      </a:r>
                      <a:endParaRPr b="0" lang="en-US" sz="11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ffffff"/>
                    </a:solidFill>
                  </a:tcPr>
                </a:tc>
                <a:tc>
                  <a:txBody>
                    <a:bodyPr lIns="45720" rIns="45720" anchor="ctr">
                      <a:noAutofit/>
                    </a:bodyPr>
                    <a:p>
                      <a:pPr defTabSz="914400">
                        <a:lnSpc>
                          <a:spcPct val="100000"/>
                        </a:lnSpc>
                        <a:tabLst>
                          <a:tab algn="l" pos="0"/>
                        </a:tabLst>
                      </a:pPr>
                      <a:r>
                        <a:rPr b="0" lang="en-US" sz="1100" spc="-1" strike="noStrike">
                          <a:solidFill>
                            <a:srgbClr val="1f2937"/>
                          </a:solidFill>
                          <a:latin typeface="Calibri"/>
                          <a:ea typeface="Calibri"/>
                        </a:rPr>
                        <a:t>Git + GitHub</a:t>
                      </a:r>
                      <a:endParaRPr b="0" lang="en-US" sz="11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ffffff"/>
                    </a:solidFill>
                  </a:tcPr>
                </a:tc>
                <a:tc>
                  <a:txBody>
                    <a:bodyPr lIns="45720" rIns="45720" anchor="ctr">
                      <a:noAutofit/>
                    </a:bodyPr>
                    <a:p>
                      <a:pPr defTabSz="914400">
                        <a:lnSpc>
                          <a:spcPct val="100000"/>
                        </a:lnSpc>
                        <a:tabLst>
                          <a:tab algn="l" pos="0"/>
                        </a:tabLst>
                      </a:pPr>
                      <a:r>
                        <a:rPr b="0" lang="en-US" sz="1100" spc="-1" strike="noStrike">
                          <a:solidFill>
                            <a:srgbClr val="1f2937"/>
                          </a:solidFill>
                          <a:latin typeface="Calibri"/>
                          <a:ea typeface="Calibri"/>
                        </a:rPr>
                        <a:t>Version control and review</a:t>
                      </a:r>
                      <a:endParaRPr b="0" lang="en-US" sz="11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ffffff"/>
                    </a:solidFill>
                  </a:tcPr>
                </a:tc>
              </a:tr>
            </a:tbl>
          </a:graphicData>
        </a:graphic>
      </p:graphicFrame>
      <p:sp>
        <p:nvSpPr>
          <p:cNvPr id="62" name="Text 2"/>
          <p:cNvSpPr/>
          <p:nvPr/>
        </p:nvSpPr>
        <p:spPr>
          <a:xfrm>
            <a:off x="457200" y="4114800"/>
            <a:ext cx="8229240" cy="731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14532d"/>
                </a:solidFill>
                <a:latin typeface="Calibri"/>
                <a:ea typeface="Calibri"/>
              </a:rPr>
              <a:t>Entirely local: local DB, local server.   No account, no subscription, no hosted service.</a:t>
            </a:r>
            <a:endParaRPr b="0" lang="en-US" sz="1300" spc="-1" strike="noStrike">
              <a:solidFill>
                <a:srgbClr val="000000"/>
              </a:solidFill>
              <a:latin typeface="Arial"/>
            </a:endParaRPr>
          </a:p>
        </p:txBody>
      </p:sp>
    </p:spTree>
  </p:cSld>
  <p:transition spd="slow">
    <p:fade thruBlk="true"/>
  </p:transition>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ee"/>
        </a:solidFill>
      </p:bgPr>
    </p:bg>
    <p:spTree>
      <p:nvGrpSpPr>
        <p:cNvPr id="1" name=""/>
        <p:cNvGrpSpPr/>
        <p:nvPr/>
      </p:nvGrpSpPr>
      <p:grpSpPr>
        <a:xfrm>
          <a:off x="0" y="0"/>
          <a:ext cx="0" cy="0"/>
          <a:chOff x="0" y="0"/>
          <a:chExt cx="0" cy="0"/>
        </a:xfrm>
      </p:grpSpPr>
      <p:sp>
        <p:nvSpPr>
          <p:cNvPr id="63" name="Shape 0"/>
          <p:cNvSpPr/>
          <p:nvPr/>
        </p:nvSpPr>
        <p:spPr>
          <a:xfrm>
            <a:off x="0" y="0"/>
            <a:ext cx="9143640" cy="776880"/>
          </a:xfrm>
          <a:prstGeom prst="rect">
            <a:avLst/>
          </a:prstGeom>
          <a:solidFill>
            <a:srgbClr val="14532d"/>
          </a:solidFill>
          <a:ln w="12600">
            <a:solidFill>
              <a:srgbClr val="14532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4" name="Text 1"/>
          <p:cNvSpPr/>
          <p:nvPr/>
        </p:nvSpPr>
        <p:spPr>
          <a:xfrm>
            <a:off x="457200" y="0"/>
            <a:ext cx="822924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200" spc="-1" strike="noStrike">
                <a:solidFill>
                  <a:srgbClr val="ffffff"/>
                </a:solidFill>
                <a:latin typeface="Calibri"/>
                <a:ea typeface="Calibri"/>
              </a:rPr>
              <a:t>What this is, honestly: a proof of concept</a:t>
            </a:r>
            <a:endParaRPr b="0" lang="en-US" sz="2200" spc="-1" strike="noStrike">
              <a:solidFill>
                <a:srgbClr val="000000"/>
              </a:solidFill>
              <a:latin typeface="Arial"/>
            </a:endParaRPr>
          </a:p>
        </p:txBody>
      </p:sp>
      <p:graphicFrame>
        <p:nvGraphicFramePr>
          <p:cNvPr id="65" name="Table 0"/>
          <p:cNvGraphicFramePr/>
          <p:nvPr/>
        </p:nvGraphicFramePr>
        <p:xfrm>
          <a:off x="457200" y="914400"/>
          <a:ext cx="8229240" cy="1699920"/>
        </p:xfrm>
        <a:graphic>
          <a:graphicData uri="http://schemas.openxmlformats.org/drawingml/2006/table">
            <a:tbl>
              <a:tblPr/>
              <a:tblGrid>
                <a:gridCol w="1371600"/>
                <a:gridCol w="3108960"/>
                <a:gridCol w="3749040"/>
              </a:tblGrid>
              <a:tr h="0">
                <a:tc>
                  <a:txBody>
                    <a:bodyPr lIns="45720" rIns="45720" anchor="ctr">
                      <a:noAutofit/>
                    </a:bodyPr>
                    <a:p>
                      <a:pPr defTabSz="914400">
                        <a:lnSpc>
                          <a:spcPct val="100000"/>
                        </a:lnSpc>
                        <a:tabLst>
                          <a:tab algn="l" pos="0"/>
                        </a:tabLst>
                      </a:pPr>
                      <a:r>
                        <a:rPr b="1" lang="en-US" sz="1100" spc="-1" strike="noStrike">
                          <a:solidFill>
                            <a:srgbClr val="ffffff"/>
                          </a:solidFill>
                          <a:latin typeface="Calibri"/>
                          <a:ea typeface="Calibri"/>
                        </a:rPr>
                        <a:t>Term</a:t>
                      </a:r>
                      <a:endParaRPr b="0" lang="en-US" sz="1100" spc="-1" strike="noStrike">
                        <a:solidFill>
                          <a:srgbClr val="ffffff"/>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14532d"/>
                    </a:solidFill>
                  </a:tcPr>
                </a:tc>
                <a:tc>
                  <a:txBody>
                    <a:bodyPr lIns="45720" rIns="45720" anchor="ctr">
                      <a:noAutofit/>
                    </a:bodyPr>
                    <a:p>
                      <a:pPr defTabSz="914400">
                        <a:lnSpc>
                          <a:spcPct val="100000"/>
                        </a:lnSpc>
                        <a:tabLst>
                          <a:tab algn="l" pos="0"/>
                        </a:tabLst>
                      </a:pPr>
                      <a:r>
                        <a:rPr b="1" lang="en-US" sz="1100" spc="-1" strike="noStrike">
                          <a:solidFill>
                            <a:srgbClr val="ffffff"/>
                          </a:solidFill>
                          <a:latin typeface="Calibri"/>
                          <a:ea typeface="Calibri"/>
                        </a:rPr>
                        <a:t>Meaning</a:t>
                      </a:r>
                      <a:endParaRPr b="0" lang="en-US" sz="1100" spc="-1" strike="noStrike">
                        <a:solidFill>
                          <a:srgbClr val="ffffff"/>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14532d"/>
                    </a:solidFill>
                  </a:tcPr>
                </a:tc>
                <a:tc>
                  <a:txBody>
                    <a:bodyPr lIns="45720" rIns="45720" anchor="ctr">
                      <a:noAutofit/>
                    </a:bodyPr>
                    <a:p>
                      <a:pPr defTabSz="914400">
                        <a:lnSpc>
                          <a:spcPct val="100000"/>
                        </a:lnSpc>
                        <a:tabLst>
                          <a:tab algn="l" pos="0"/>
                        </a:tabLst>
                      </a:pPr>
                      <a:r>
                        <a:rPr b="1" lang="en-US" sz="1100" spc="-1" strike="noStrike">
                          <a:solidFill>
                            <a:srgbClr val="ffffff"/>
                          </a:solidFill>
                          <a:latin typeface="Calibri"/>
                          <a:ea typeface="Calibri"/>
                        </a:rPr>
                        <a:t>Is that AgriPulse?</a:t>
                      </a:r>
                      <a:endParaRPr b="0" lang="en-US" sz="1100" spc="-1" strike="noStrike">
                        <a:solidFill>
                          <a:srgbClr val="ffffff"/>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14532d"/>
                    </a:solidFill>
                  </a:tcPr>
                </a:tc>
              </a:tr>
              <a:tr h="0">
                <a:tc>
                  <a:txBody>
                    <a:bodyPr lIns="45720" rIns="45720" anchor="ctr">
                      <a:noAutofit/>
                    </a:bodyPr>
                    <a:p>
                      <a:pPr defTabSz="914400">
                        <a:lnSpc>
                          <a:spcPct val="100000"/>
                        </a:lnSpc>
                        <a:tabLst>
                          <a:tab algn="l" pos="0"/>
                        </a:tabLst>
                      </a:pPr>
                      <a:r>
                        <a:rPr b="0" lang="en-US" sz="1100" spc="-1" strike="noStrike">
                          <a:solidFill>
                            <a:srgbClr val="1f2937"/>
                          </a:solidFill>
                          <a:latin typeface="Calibri"/>
                          <a:ea typeface="Calibri"/>
                        </a:rPr>
                        <a:t>Prototype</a:t>
                      </a:r>
                      <a:endParaRPr b="0" lang="en-US" sz="11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ffffff"/>
                    </a:solidFill>
                  </a:tcPr>
                </a:tc>
                <a:tc>
                  <a:txBody>
                    <a:bodyPr lIns="45720" rIns="45720" anchor="ctr">
                      <a:noAutofit/>
                    </a:bodyPr>
                    <a:p>
                      <a:pPr defTabSz="914400">
                        <a:lnSpc>
                          <a:spcPct val="100000"/>
                        </a:lnSpc>
                        <a:tabLst>
                          <a:tab algn="l" pos="0"/>
                        </a:tabLst>
                      </a:pPr>
                      <a:r>
                        <a:rPr b="0" lang="en-US" sz="1100" spc="-1" strike="noStrike">
                          <a:solidFill>
                            <a:srgbClr val="1f2937"/>
                          </a:solidFill>
                          <a:latin typeface="Calibri"/>
                          <a:ea typeface="Calibri"/>
                        </a:rPr>
                        <a:t>Throwaway artefact to explore if an idea is worth pursuing</a:t>
                      </a:r>
                      <a:endParaRPr b="0" lang="en-US" sz="11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ffffff"/>
                    </a:solidFill>
                  </a:tcPr>
                </a:tc>
                <a:tc>
                  <a:txBody>
                    <a:bodyPr lIns="45720" rIns="45720" anchor="ctr">
                      <a:noAutofit/>
                    </a:bodyPr>
                    <a:p>
                      <a:pPr defTabSz="914400">
                        <a:lnSpc>
                          <a:spcPct val="100000"/>
                        </a:lnSpc>
                        <a:tabLst>
                          <a:tab algn="l" pos="0"/>
                        </a:tabLst>
                      </a:pPr>
                      <a:r>
                        <a:rPr b="0" lang="en-US" sz="1100" spc="-1" strike="noStrike">
                          <a:solidFill>
                            <a:srgbClr val="1f2937"/>
                          </a:solidFill>
                          <a:latin typeface="Calibri"/>
                          <a:ea typeface="Calibri"/>
                        </a:rPr>
                        <a:t>No pure functions under unit test; production discipline</a:t>
                      </a:r>
                      <a:endParaRPr b="0" lang="en-US" sz="11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ffffff"/>
                    </a:solidFill>
                  </a:tcPr>
                </a:tc>
              </a:tr>
              <a:tr h="0">
                <a:tc>
                  <a:txBody>
                    <a:bodyPr lIns="45720" rIns="45720" anchor="ctr">
                      <a:noAutofit/>
                    </a:bodyPr>
                    <a:p>
                      <a:pPr defTabSz="914400">
                        <a:lnSpc>
                          <a:spcPct val="100000"/>
                        </a:lnSpc>
                        <a:tabLst>
                          <a:tab algn="l" pos="0"/>
                        </a:tabLst>
                      </a:pPr>
                      <a:r>
                        <a:rPr b="0" lang="en-US" sz="1100" spc="-1" strike="noStrike">
                          <a:solidFill>
                            <a:srgbClr val="1f2937"/>
                          </a:solidFill>
                          <a:latin typeface="Calibri"/>
                          <a:ea typeface="Calibri"/>
                        </a:rPr>
                        <a:t>Proof of concept</a:t>
                      </a:r>
                      <a:endParaRPr b="0" lang="en-US" sz="11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eef2e6"/>
                    </a:solidFill>
                  </a:tcPr>
                </a:tc>
                <a:tc>
                  <a:txBody>
                    <a:bodyPr lIns="45720" rIns="45720" anchor="ctr">
                      <a:noAutofit/>
                    </a:bodyPr>
                    <a:p>
                      <a:pPr defTabSz="914400">
                        <a:lnSpc>
                          <a:spcPct val="100000"/>
                        </a:lnSpc>
                        <a:tabLst>
                          <a:tab algn="l" pos="0"/>
                        </a:tabLst>
                      </a:pPr>
                      <a:r>
                        <a:rPr b="0" lang="en-US" sz="1100" spc="-1" strike="noStrike">
                          <a:solidFill>
                            <a:srgbClr val="1f2937"/>
                          </a:solidFill>
                          <a:latin typeface="Calibri"/>
                          <a:ea typeface="Calibri"/>
                        </a:rPr>
                        <a:t>Answers one question: can this approach work? Success is a test</a:t>
                      </a:r>
                      <a:endParaRPr b="0" lang="en-US" sz="11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eef2e6"/>
                    </a:solidFill>
                  </a:tcPr>
                </a:tc>
                <a:tc>
                  <a:txBody>
                    <a:bodyPr lIns="45720" rIns="45720" anchor="ctr">
                      <a:noAutofit/>
                    </a:bodyPr>
                    <a:p>
                      <a:pPr defTabSz="914400">
                        <a:lnSpc>
                          <a:spcPct val="100000"/>
                        </a:lnSpc>
                        <a:tabLst>
                          <a:tab algn="l" pos="0"/>
                        </a:tabLst>
                      </a:pPr>
                      <a:r>
                        <a:rPr b="0" lang="en-US" sz="1100" spc="-1" strike="noStrike">
                          <a:solidFill>
                            <a:srgbClr val="1f2937"/>
                          </a:solidFill>
                          <a:latin typeface="Calibri"/>
                          <a:ea typeface="Calibri"/>
                        </a:rPr>
                        <a:t>Yes can published methods be implemented correctly, locally, and verified against an official figure? Week 5 answers it</a:t>
                      </a:r>
                      <a:endParaRPr b="0" lang="en-US" sz="11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eef2e6"/>
                    </a:solidFill>
                  </a:tcPr>
                </a:tc>
              </a:tr>
              <a:tr h="0">
                <a:tc>
                  <a:txBody>
                    <a:bodyPr lIns="45720" rIns="45720" anchor="ctr">
                      <a:noAutofit/>
                    </a:bodyPr>
                    <a:p>
                      <a:pPr defTabSz="914400">
                        <a:lnSpc>
                          <a:spcPct val="100000"/>
                        </a:lnSpc>
                        <a:tabLst>
                          <a:tab algn="l" pos="0"/>
                        </a:tabLst>
                      </a:pPr>
                      <a:r>
                        <a:rPr b="0" lang="en-US" sz="1100" spc="-1" strike="noStrike">
                          <a:solidFill>
                            <a:srgbClr val="1f2937"/>
                          </a:solidFill>
                          <a:latin typeface="Calibri"/>
                          <a:ea typeface="Calibri"/>
                        </a:rPr>
                        <a:t>Product</a:t>
                      </a:r>
                      <a:endParaRPr b="0" lang="en-US" sz="11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ffffff"/>
                    </a:solidFill>
                  </a:tcPr>
                </a:tc>
                <a:tc>
                  <a:txBody>
                    <a:bodyPr lIns="45720" rIns="45720" anchor="ctr">
                      <a:noAutofit/>
                    </a:bodyPr>
                    <a:p>
                      <a:pPr defTabSz="914400">
                        <a:lnSpc>
                          <a:spcPct val="100000"/>
                        </a:lnSpc>
                        <a:tabLst>
                          <a:tab algn="l" pos="0"/>
                        </a:tabLst>
                      </a:pPr>
                      <a:r>
                        <a:rPr b="0" lang="en-US" sz="1100" spc="-1" strike="noStrike">
                          <a:solidFill>
                            <a:srgbClr val="1f2937"/>
                          </a:solidFill>
                          <a:latin typeface="Calibri"/>
                          <a:ea typeface="Calibri"/>
                        </a:rPr>
                        <a:t>Usable by real users, supported, complete</a:t>
                      </a:r>
                      <a:endParaRPr b="0" lang="en-US" sz="11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ffffff"/>
                    </a:solidFill>
                  </a:tcPr>
                </a:tc>
                <a:tc>
                  <a:txBody>
                    <a:bodyPr lIns="45720" rIns="45720" anchor="ctr">
                      <a:noAutofit/>
                    </a:bodyPr>
                    <a:p>
                      <a:pPr defTabSz="914400">
                        <a:lnSpc>
                          <a:spcPct val="100000"/>
                        </a:lnSpc>
                        <a:tabLst>
                          <a:tab algn="l" pos="0"/>
                        </a:tabLst>
                      </a:pPr>
                      <a:r>
                        <a:rPr b="0" lang="en-US" sz="1100" spc="-1" strike="noStrike">
                          <a:solidFill>
                            <a:srgbClr val="1f2937"/>
                          </a:solidFill>
                          <a:latin typeface="Calibri"/>
                          <a:ea typeface="Calibri"/>
                        </a:rPr>
                        <a:t>Not yet and we do not claim it</a:t>
                      </a:r>
                      <a:endParaRPr b="0" lang="en-US" sz="1100" spc="-1" strike="noStrike">
                        <a:solidFill>
                          <a:srgbClr val="000000"/>
                        </a:solidFill>
                        <a:latin typeface="Arial"/>
                      </a:endParaRPr>
                    </a:p>
                  </a:txBody>
                  <a:tcPr anchor="ctr" marL="45720" marR="45720">
                    <a:lnL w="6480">
                      <a:solidFill>
                        <a:srgbClr val="d1d5db"/>
                      </a:solidFill>
                      <a:prstDash val="solid"/>
                    </a:lnL>
                    <a:lnR w="6480">
                      <a:solidFill>
                        <a:srgbClr val="d1d5db"/>
                      </a:solidFill>
                      <a:prstDash val="solid"/>
                    </a:lnR>
                    <a:lnT w="6480">
                      <a:solidFill>
                        <a:srgbClr val="d1d5db"/>
                      </a:solidFill>
                      <a:prstDash val="solid"/>
                    </a:lnT>
                    <a:lnB w="6480">
                      <a:solidFill>
                        <a:srgbClr val="d1d5db"/>
                      </a:solidFill>
                      <a:prstDash val="solid"/>
                    </a:lnB>
                    <a:solidFill>
                      <a:srgbClr val="ffffff"/>
                    </a:solidFill>
                  </a:tcPr>
                </a:tc>
              </a:tr>
            </a:tbl>
          </a:graphicData>
        </a:graphic>
      </p:graphicFrame>
    </p:spTree>
  </p:cSld>
  <p:transition spd="slow">
    <p:fade thruBlk="true"/>
  </p:transition>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ee"/>
        </a:solidFill>
      </p:bgPr>
    </p:bg>
    <p:spTree>
      <p:nvGrpSpPr>
        <p:cNvPr id="1" name=""/>
        <p:cNvGrpSpPr/>
        <p:nvPr/>
      </p:nvGrpSpPr>
      <p:grpSpPr>
        <a:xfrm>
          <a:off x="0" y="0"/>
          <a:ext cx="0" cy="0"/>
          <a:chOff x="0" y="0"/>
          <a:chExt cx="0" cy="0"/>
        </a:xfrm>
      </p:grpSpPr>
      <p:sp>
        <p:nvSpPr>
          <p:cNvPr id="66" name="Shape 0"/>
          <p:cNvSpPr/>
          <p:nvPr/>
        </p:nvSpPr>
        <p:spPr>
          <a:xfrm>
            <a:off x="0" y="0"/>
            <a:ext cx="9143640" cy="776880"/>
          </a:xfrm>
          <a:prstGeom prst="rect">
            <a:avLst/>
          </a:prstGeom>
          <a:solidFill>
            <a:srgbClr val="14532d"/>
          </a:solidFill>
          <a:ln w="12600">
            <a:solidFill>
              <a:srgbClr val="14532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7" name="Text 1"/>
          <p:cNvSpPr/>
          <p:nvPr/>
        </p:nvSpPr>
        <p:spPr>
          <a:xfrm>
            <a:off x="457200" y="0"/>
            <a:ext cx="822924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200" spc="-1" strike="noStrike">
                <a:solidFill>
                  <a:srgbClr val="ffffff"/>
                </a:solidFill>
                <a:latin typeface="Calibri"/>
                <a:ea typeface="Calibri"/>
              </a:rPr>
              <a:t>Thank You</a:t>
            </a:r>
            <a:endParaRPr b="0" lang="en-US" sz="2200" spc="-1" strike="noStrike">
              <a:solidFill>
                <a:srgbClr val="000000"/>
              </a:solidFill>
              <a:latin typeface="Arial"/>
            </a:endParaRPr>
          </a:p>
        </p:txBody>
      </p:sp>
      <p:sp>
        <p:nvSpPr>
          <p:cNvPr id="68" name="Text 2"/>
          <p:cNvSpPr/>
          <p:nvPr/>
        </p:nvSpPr>
        <p:spPr>
          <a:xfrm>
            <a:off x="457200" y="1038240"/>
            <a:ext cx="8229240" cy="3807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000" spc="-1" strike="noStrike">
                <a:solidFill>
                  <a:srgbClr val="14532d"/>
                </a:solidFill>
                <a:latin typeface="Calibri"/>
                <a:ea typeface="Calibri"/>
              </a:rPr>
              <a:t>Any Question?</a:t>
            </a:r>
            <a:endParaRPr b="0" lang="en-US" sz="8000" spc="-1" strike="noStrike">
              <a:solidFill>
                <a:srgbClr val="000000"/>
              </a:solidFill>
              <a:latin typeface="Arial"/>
            </a:endParaRPr>
          </a:p>
        </p:txBody>
      </p:sp>
    </p:spTree>
  </p:cSld>
  <p:transition spd="slow">
    <p:fade thruBlk="true"/>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31</TotalTime>
  <Application>LibreOffice/24.2.7.2$Linux_X86_64 LibreOffice_project/420$Build-2</Application>
  <AppVersion>15.0000</AppVersion>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2026-10-07T12:50:02Z</dcterms:created>
  <dc:creator>Abdullah Munir, Muhammad Hamza</dc:creator>
  <dc:description/>
  <dc:language>en-US</dc:language>
  <cp:lastModifiedBy/>
  <dcterms:modified xsi:type="dcterms:W3CDTF">2026-10-20T17:37:57Z</dcterms:modified>
  <cp:revision>8</cp:revision>
  <dc:subject>PptxGenJS Presentation</dc:subject>
  <dc:title>AgriPulse Analytics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18</vt:r8>
  </property>
  <property fmtid="{D5CDD505-2E9C-101B-9397-08002B2CF9AE}" pid="3" name="PresentationFormat">
    <vt:lpwstr>On-screen Show (16:9)</vt:lpwstr>
  </property>
  <property fmtid="{D5CDD505-2E9C-101B-9397-08002B2CF9AE}" pid="4" name="Slides">
    <vt:r8>18</vt:r8>
  </property>
</Properties>
</file>